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D1C6B3-9BC4-41FD-98A4-F29D1DBB3598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7C172B-5FBE-4367-B7A3-D3977BB8BC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7079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커스터마이징 화면에서 </a:t>
            </a:r>
            <a:r>
              <a:rPr lang="en-US" altLang="ko-KR"/>
              <a:t>ItemSlotUI.SetItem()</a:t>
            </a:r>
            <a:r>
              <a:rPr lang="ko-KR" altLang="en-US"/>
              <a:t>으로 슬롯을 고르면 </a:t>
            </a:r>
            <a:r>
              <a:rPr lang="en-US" altLang="ko-KR"/>
              <a:t>PlayerCustomizeManager</a:t>
            </a:r>
            <a:r>
              <a:rPr lang="ko-KR" altLang="en-US"/>
              <a:t>의 </a:t>
            </a:r>
            <a:r>
              <a:rPr lang="en-US" altLang="ko-KR"/>
              <a:t>PlayerCustomization(</a:t>
            </a:r>
            <a:r>
              <a:rPr lang="ko-KR" altLang="en-US"/>
              <a:t>부위별 </a:t>
            </a:r>
            <a:r>
              <a:rPr lang="en-US" altLang="ko-KR"/>
              <a:t>enum </a:t>
            </a:r>
            <a:r>
              <a:rPr lang="ko-KR" altLang="en-US"/>
              <a:t>구조체</a:t>
            </a:r>
            <a:r>
              <a:rPr lang="en-US" altLang="ko-KR"/>
              <a:t>)</a:t>
            </a:r>
            <a:r>
              <a:rPr lang="ko-KR" altLang="en-US"/>
              <a:t>이 갱신되고</a:t>
            </a:r>
            <a:r>
              <a:rPr lang="en-US" altLang="ko-KR"/>
              <a:t>, CharacterClothChanger.SetCustomization()</a:t>
            </a:r>
            <a:r>
              <a:rPr lang="ko-KR" altLang="en-US"/>
              <a:t>이 기존 장착물을 모두 </a:t>
            </a:r>
            <a:r>
              <a:rPr lang="en-US" altLang="ko-KR"/>
              <a:t>Destroy</a:t>
            </a:r>
            <a:r>
              <a:rPr lang="ko-KR" altLang="en-US"/>
              <a:t>한 뒤 </a:t>
            </a:r>
            <a:r>
              <a:rPr lang="en-US" altLang="ko-KR"/>
              <a:t>Resources/Object/Customizing/{</a:t>
            </a:r>
            <a:r>
              <a:rPr lang="ko-KR" altLang="en-US"/>
              <a:t>부위</a:t>
            </a:r>
            <a:r>
              <a:rPr lang="en-US" altLang="ko-KR"/>
              <a:t>}/{</a:t>
            </a:r>
            <a:r>
              <a:rPr lang="ko-KR" altLang="en-US"/>
              <a:t>이름</a:t>
            </a:r>
            <a:r>
              <a:rPr lang="en-US" altLang="ko-KR"/>
              <a:t>} </a:t>
            </a:r>
            <a:r>
              <a:rPr lang="ko-KR" altLang="en-US"/>
              <a:t>프리팹을 다시 장착한다</a:t>
            </a:r>
            <a:r>
              <a:rPr lang="en-US" altLang="ko-KR"/>
              <a:t>. </a:t>
            </a:r>
            <a:r>
              <a:rPr lang="ko-KR" altLang="en-US"/>
              <a:t>머리카락과 모자는 </a:t>
            </a:r>
            <a:r>
              <a:rPr lang="en-US" altLang="ko-KR"/>
              <a:t>Head </a:t>
            </a:r>
            <a:r>
              <a:rPr lang="ko-KR" altLang="en-US"/>
              <a:t>본의 자식으로 붙이고</a:t>
            </a:r>
            <a:r>
              <a:rPr lang="en-US" altLang="ko-KR"/>
              <a:t>, </a:t>
            </a:r>
            <a:r>
              <a:rPr lang="ko-KR" altLang="en-US"/>
              <a:t>옷</a:t>
            </a:r>
            <a:r>
              <a:rPr lang="en-US" altLang="ko-KR"/>
              <a:t>·</a:t>
            </a:r>
            <a:r>
              <a:rPr lang="ko-KR" altLang="en-US"/>
              <a:t>신발</a:t>
            </a:r>
            <a:r>
              <a:rPr lang="en-US" altLang="ko-KR"/>
              <a:t>·</a:t>
            </a:r>
            <a:r>
              <a:rPr lang="ko-KR" altLang="en-US"/>
              <a:t>하의는 </a:t>
            </a:r>
            <a:r>
              <a:rPr lang="en-US" altLang="ko-KR"/>
              <a:t>SkinnedMeshRenderer</a:t>
            </a:r>
            <a:r>
              <a:rPr lang="ko-KR" altLang="en-US"/>
              <a:t>의 </a:t>
            </a:r>
            <a:r>
              <a:rPr lang="en-US" altLang="ko-KR"/>
              <a:t>bones</a:t>
            </a:r>
            <a:r>
              <a:rPr lang="ko-KR" altLang="en-US"/>
              <a:t>와 </a:t>
            </a:r>
            <a:r>
              <a:rPr lang="en-US" altLang="ko-KR"/>
              <a:t>rootBone</a:t>
            </a:r>
            <a:r>
              <a:rPr lang="ko-KR" altLang="en-US"/>
              <a:t>을 같은 이름의 캐릭터 본으로 교체하는 본 리매핑을 거친다</a:t>
            </a:r>
            <a:r>
              <a:rPr lang="en-US" altLang="ko-KR"/>
              <a:t>. </a:t>
            </a:r>
            <a:r>
              <a:rPr lang="ko-KR" altLang="en-US"/>
              <a:t>그러면 옷이 캐릭터의 </a:t>
            </a:r>
            <a:r>
              <a:rPr lang="en-US" altLang="ko-KR"/>
              <a:t>Animator</a:t>
            </a:r>
            <a:r>
              <a:rPr lang="ko-KR" altLang="en-US"/>
              <a:t>가 움직이는 뼈대를 그대로 따라가므로 옷마다 애니메이션을 따로 둘 필요가 없고</a:t>
            </a:r>
            <a:r>
              <a:rPr lang="en-US" altLang="ko-KR"/>
              <a:t>, </a:t>
            </a:r>
            <a:r>
              <a:rPr lang="ko-KR" altLang="en-US"/>
              <a:t>옷 프리팹에 딸려온 </a:t>
            </a:r>
            <a:r>
              <a:rPr lang="en-US" altLang="ko-KR"/>
              <a:t>Armature</a:t>
            </a:r>
            <a:r>
              <a:rPr lang="ko-KR" altLang="en-US"/>
              <a:t>는 삭제한다</a:t>
            </a:r>
            <a:r>
              <a:rPr lang="en-US" altLang="ko-KR"/>
              <a:t>. </a:t>
            </a:r>
            <a:r>
              <a:rPr lang="ko-KR" altLang="en-US"/>
              <a:t>인게임에서는 로컬 플레이어가 </a:t>
            </a:r>
            <a:r>
              <a:rPr lang="en-US" altLang="ko-KR"/>
              <a:t>RPC_SubmitCustomization</a:t>
            </a:r>
            <a:r>
              <a:rPr lang="ko-KR" altLang="en-US"/>
              <a:t>으로 </a:t>
            </a:r>
            <a:r>
              <a:rPr lang="en-US" altLang="ko-KR"/>
              <a:t>Host</a:t>
            </a:r>
            <a:r>
              <a:rPr lang="ko-KR" altLang="en-US"/>
              <a:t>에 값을 보내고</a:t>
            </a:r>
            <a:r>
              <a:rPr lang="en-US" altLang="ko-KR"/>
              <a:t>, [Networked, OnChangedRender] PlayerCustomization</a:t>
            </a:r>
            <a:r>
              <a:rPr lang="ko-KR" altLang="en-US"/>
              <a:t>이 모든 피어로 복제되어 각자 </a:t>
            </a:r>
            <a:r>
              <a:rPr lang="en-US" altLang="ko-KR"/>
              <a:t>SetCustomization</a:t>
            </a:r>
            <a:r>
              <a:rPr lang="ko-KR" altLang="en-US"/>
              <a:t>으로 같은 옷을 입힌다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7C172B-5FBE-4367-B7A3-D3977BB8BC2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268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F8593B-CCF5-3593-235B-1540E854DE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C90A192-C776-B8C3-3587-DB63A2670A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C34A70-5451-664B-90F9-C46C8B011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F436B-E2B1-4361-A3AA-BD796D866643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6DA435-7335-1EEE-DA54-1C24F5ED3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A4C693-C284-FBD6-268E-579DA6021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EC65D-37A0-4D5D-BAE3-FDEC2DB56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834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1B611F-5112-E351-769D-4A9CB320E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08A717-E3B7-56C3-7D8F-102B7530B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83E54F-13C8-80FE-0B56-C3F0B61EC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F436B-E2B1-4361-A3AA-BD796D866643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A2E965-A7D6-3A89-1D3B-C17F2FEF9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22B2B5-031A-3D17-2AA0-0655C04F2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EC65D-37A0-4D5D-BAE3-FDEC2DB56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6393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7977B3-72FA-4BA6-7F7E-8EA918630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6947B7-6203-987A-6917-9D47A35B6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E8805B-2C19-91F0-B1F9-46ABDE4D5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F436B-E2B1-4361-A3AA-BD796D866643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859481-193E-C958-BF00-D4C3EBE53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A7F02A-9B7C-C5CC-DB3F-5DA12F7A9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EC65D-37A0-4D5D-BAE3-FDEC2DB56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8606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B5624C-A8A1-AF89-C913-481D75853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4BC781-3075-39E7-B137-6EE4587C2C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86568A1-1859-0488-E6DD-486A075E9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9D9386-1975-353E-46A2-0B3D2B3C4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F436B-E2B1-4361-A3AA-BD796D866643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8B330C-3437-C40C-C104-2FBC7BB41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DCFA01-6292-583A-8035-DE3C1271D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EC65D-37A0-4D5D-BAE3-FDEC2DB56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5966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A21233-E32A-D11E-078E-6DE7F4716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C68608-A25F-1499-4A7D-DB77E1526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A429B7-411C-8657-8001-C37C59AC63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B4CD320-FA1B-F6AA-C8E7-30642F5B4C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4F96C10-FDAC-7418-150E-488D262EA1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BC6F5AA-AFC5-46A7-E388-51C1BDED2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F436B-E2B1-4361-A3AA-BD796D866643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E3B296-A8A7-1B07-3B7D-97363D62E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6C044E3-685B-4D8C-A33D-06F994D7D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EC65D-37A0-4D5D-BAE3-FDEC2DB56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849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927B29-9DCC-A6B1-6085-6FCCB7C61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55B1B6-8F08-114E-F2C9-7B1088445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F436B-E2B1-4361-A3AA-BD796D866643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4983589-2AFF-0F18-5BE2-4D1F5F854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D30F5D1-E8DC-0031-90E4-CE0F03A01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EC65D-37A0-4D5D-BAE3-FDEC2DB56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979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093FF30-236F-6206-96F8-AF42CC342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F436B-E2B1-4361-A3AA-BD796D866643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09EB04B-58DF-75C1-12CB-6F38F0F2C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D8095C-3A0A-AECA-6AF0-C91DDC23D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EC65D-37A0-4D5D-BAE3-FDEC2DB56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2082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FCD19-FD5F-065C-F74B-92D7F9C70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C2D591-FD21-508E-4321-08714D3C7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B2AE3F-C3C0-0F3A-BC9A-F9D05D3B4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71708C-EC84-5CA3-37E6-7E406D6E8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F436B-E2B1-4361-A3AA-BD796D866643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F47ED22-779E-CF57-CBB7-08F1A2CC3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58889C-E058-E021-3B71-141E3C957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EC65D-37A0-4D5D-BAE3-FDEC2DB56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1823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005EA-171C-4A29-D395-38F86116D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9571584-0EE1-947B-E190-6E526770F05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83B260-26F7-3145-6CD3-9FD492FEC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BF4F393-6A72-7027-D24F-8C158A3BA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F436B-E2B1-4361-A3AA-BD796D866643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FC8F83-C6C5-F948-002C-9118C9AD2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3E712D-6A28-31B8-B9F7-1E83A95C3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EC65D-37A0-4D5D-BAE3-FDEC2DB56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8015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76126E-E8A8-6D21-D9FC-0659D98B7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41CBB5D-EC4A-69C4-288B-D2B713EF5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E7D34F-177C-0176-DD75-5E2826F41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F436B-E2B1-4361-A3AA-BD796D866643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EAB97E-CAB9-ED1D-0C67-3222FE03D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CB68A7-6493-618D-C2E4-630EF282F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EC65D-37A0-4D5D-BAE3-FDEC2DB56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2651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90B959E-E84A-BF5A-1A52-ECEB215F44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BE0E539-9F49-2CC9-F51B-F18F0415F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A791CC-F8BE-06C7-D4D5-935346FC9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F436B-E2B1-4361-A3AA-BD796D866643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2C53DF-9856-1163-943F-F7FFF86D8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CF700C-F994-0A66-D71A-1DA566751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EC65D-37A0-4D5D-BAE3-FDEC2DB56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7379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4A7CCD6-4E2D-1080-7364-05EF3D9D9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E9B1CC-0103-81C8-EA78-4796550EFF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43763A-5D68-3FA5-3B50-7A35E98EC5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F436B-E2B1-4361-A3AA-BD796D866643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3905E0-0FCC-E1F2-DFC9-ED136DE067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751A0D-6145-783C-D604-426DE63B44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1EC65D-37A0-4D5D-BAE3-FDEC2DB56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814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503EA4-973F-57EF-73E3-3677F81FCF45}"/>
              </a:ext>
            </a:extLst>
          </p:cNvPr>
          <p:cNvSpPr txBox="1"/>
          <p:nvPr/>
        </p:nvSpPr>
        <p:spPr>
          <a:xfrm>
            <a:off x="457200" y="320040"/>
            <a:ext cx="1124712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32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캐릭터 옷 갈아입기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FBF8BF-44BF-ECD9-2E9B-D5E3CA7F9DAF}"/>
              </a:ext>
            </a:extLst>
          </p:cNvPr>
          <p:cNvSpPr txBox="1"/>
          <p:nvPr/>
        </p:nvSpPr>
        <p:spPr>
          <a:xfrm>
            <a:off x="457200" y="896112"/>
            <a:ext cx="1124712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CharacterClothChanger — </a:t>
            </a:r>
            <a:r>
              <a:rPr lang="ko-KR" altLang="en-US" sz="14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옷 프리팹의 뼈대를 캐릭터 뼈대로 바꿔 끼우는 본 리매핑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E01AD2D-7B04-9CD6-9521-5BE9BCC74595}"/>
              </a:ext>
            </a:extLst>
          </p:cNvPr>
          <p:cNvSpPr/>
          <p:nvPr/>
        </p:nvSpPr>
        <p:spPr>
          <a:xfrm>
            <a:off x="457200" y="1371600"/>
            <a:ext cx="5486400" cy="2331720"/>
          </a:xfrm>
          <a:prstGeom prst="roundRect">
            <a:avLst>
              <a:gd name="adj" fmla="val 6000"/>
            </a:avLst>
          </a:prstGeom>
          <a:solidFill>
            <a:srgbClr val="F3F1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C4198F-A79D-F82A-E5C3-A76038929014}"/>
              </a:ext>
            </a:extLst>
          </p:cNvPr>
          <p:cNvSpPr txBox="1"/>
          <p:nvPr/>
        </p:nvSpPr>
        <p:spPr>
          <a:xfrm>
            <a:off x="731520" y="1508760"/>
            <a:ext cx="493776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① 장착 흐름   </a:t>
            </a:r>
            <a:r>
              <a:rPr lang="en-US" altLang="ko-KR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ItemSlotUI → SetCustomization()</a:t>
            </a:r>
            <a:endParaRPr lang="ko-KR" altLang="en-US" sz="1100">
              <a:solidFill>
                <a:srgbClr val="6B647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E3BBF78-B603-361A-EA8E-556FC6C9A19F}"/>
              </a:ext>
            </a:extLst>
          </p:cNvPr>
          <p:cNvSpPr/>
          <p:nvPr/>
        </p:nvSpPr>
        <p:spPr>
          <a:xfrm>
            <a:off x="731520" y="2011680"/>
            <a:ext cx="1097280" cy="685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8A82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lang="en-US" altLang="ko-KR" sz="11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SetItem()</a:t>
            </a:r>
          </a:p>
          <a:p>
            <a:pPr algn="ctr"/>
            <a:r>
              <a:rPr lang="ko-KR" altLang="en-US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슬롯 클릭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992439A-9A24-8FE6-1ED6-E402C8017B36}"/>
              </a:ext>
            </a:extLst>
          </p:cNvPr>
          <p:cNvSpPr/>
          <p:nvPr/>
        </p:nvSpPr>
        <p:spPr>
          <a:xfrm>
            <a:off x="2103120" y="2011680"/>
            <a:ext cx="1828800" cy="685800"/>
          </a:xfrm>
          <a:prstGeom prst="roundRect">
            <a:avLst>
              <a:gd name="adj" fmla="val 18000"/>
            </a:avLst>
          </a:prstGeom>
          <a:solidFill>
            <a:srgbClr val="6A2C9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PlayerCustomization</a:t>
            </a:r>
          </a:p>
          <a:p>
            <a:pPr algn="ctr"/>
            <a:r>
              <a:rPr lang="ko-KR" altLang="en-US" sz="1000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부위별 </a:t>
            </a:r>
            <a:r>
              <a:rPr lang="en-US" altLang="ko-KR" sz="1000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enum </a:t>
            </a:r>
            <a:r>
              <a:rPr lang="ko-KR" altLang="en-US" sz="1000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저장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C23530F-F601-4AD0-91AC-41E12C744096}"/>
              </a:ext>
            </a:extLst>
          </p:cNvPr>
          <p:cNvSpPr/>
          <p:nvPr/>
        </p:nvSpPr>
        <p:spPr>
          <a:xfrm>
            <a:off x="4206240" y="2011680"/>
            <a:ext cx="1463040" cy="685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8A82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lang="en-US" altLang="ko-KR" sz="11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SetCustomization()</a:t>
            </a:r>
          </a:p>
          <a:p>
            <a:pPr algn="ctr"/>
            <a:r>
              <a:rPr lang="ko-KR" altLang="en-US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전부 지우고 재장착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9CA0923-A21D-1EE0-0AC8-AA0869702FAE}"/>
              </a:ext>
            </a:extLst>
          </p:cNvPr>
          <p:cNvCxnSpPr/>
          <p:nvPr/>
        </p:nvCxnSpPr>
        <p:spPr>
          <a:xfrm>
            <a:off x="1828800" y="2354580"/>
            <a:ext cx="274320" cy="0"/>
          </a:xfrm>
          <a:prstGeom prst="line">
            <a:avLst/>
          </a:prstGeom>
          <a:ln w="22225">
            <a:solidFill>
              <a:srgbClr val="8A82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EF13716-D2E9-EC76-3ECB-D8177E5B0973}"/>
              </a:ext>
            </a:extLst>
          </p:cNvPr>
          <p:cNvCxnSpPr/>
          <p:nvPr/>
        </p:nvCxnSpPr>
        <p:spPr>
          <a:xfrm>
            <a:off x="3931920" y="2354580"/>
            <a:ext cx="274320" cy="0"/>
          </a:xfrm>
          <a:prstGeom prst="line">
            <a:avLst/>
          </a:prstGeom>
          <a:ln w="22225">
            <a:solidFill>
              <a:srgbClr val="8A82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181BB43-1C94-5C7F-3377-A204B30C941B}"/>
              </a:ext>
            </a:extLst>
          </p:cNvPr>
          <p:cNvSpPr txBox="1"/>
          <p:nvPr/>
        </p:nvSpPr>
        <p:spPr>
          <a:xfrm>
            <a:off x="731520" y="2788920"/>
            <a:ext cx="49377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Resources.Load("Object/Customizing/{</a:t>
            </a:r>
            <a:r>
              <a:rPr lang="ko-KR" altLang="en-US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부위</a:t>
            </a:r>
            <a:r>
              <a:rPr lang="en-US" altLang="ko-KR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}/{</a:t>
            </a:r>
            <a:r>
              <a:rPr lang="ko-KR" altLang="en-US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이름</a:t>
            </a:r>
            <a:r>
              <a:rPr lang="en-US" altLang="ko-KR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}")</a:t>
            </a:r>
            <a:r>
              <a:rPr lang="ko-KR" altLang="en-US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프리팹 로드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DE5BF2E-023A-4E8D-BEC3-BBDA25835A1A}"/>
              </a:ext>
            </a:extLst>
          </p:cNvPr>
          <p:cNvSpPr/>
          <p:nvPr/>
        </p:nvSpPr>
        <p:spPr>
          <a:xfrm>
            <a:off x="731520" y="3154680"/>
            <a:ext cx="49377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0" rIns="101600" bIns="0" rtlCol="0" anchor="ctr"/>
          <a:lstStyle/>
          <a:p>
            <a:pPr algn="ctr"/>
            <a:r>
              <a:rPr lang="ko-KR" altLang="en-US" sz="1100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머리 </a:t>
            </a:r>
            <a:r>
              <a:rPr lang="en-US" altLang="ko-KR" sz="1100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100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모자 → </a:t>
            </a:r>
            <a:r>
              <a:rPr lang="en-US" altLang="ko-KR" sz="1100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Head </a:t>
            </a:r>
            <a:r>
              <a:rPr lang="ko-KR" altLang="en-US" sz="1100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본에 부착    </a:t>
            </a:r>
            <a:r>
              <a:rPr lang="en-US" altLang="ko-KR" sz="1100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    </a:t>
            </a:r>
            <a:r>
              <a:rPr lang="ko-KR" altLang="en-US" sz="1100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옷 </a:t>
            </a:r>
            <a:r>
              <a:rPr lang="en-US" altLang="ko-KR" sz="1100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100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신발 </a:t>
            </a:r>
            <a:r>
              <a:rPr lang="en-US" altLang="ko-KR" sz="1100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100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하의 → 본 리매핑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694AEA7-7120-976C-C8D0-843EA651AB32}"/>
              </a:ext>
            </a:extLst>
          </p:cNvPr>
          <p:cNvSpPr/>
          <p:nvPr/>
        </p:nvSpPr>
        <p:spPr>
          <a:xfrm>
            <a:off x="457200" y="3840480"/>
            <a:ext cx="5486400" cy="2560320"/>
          </a:xfrm>
          <a:prstGeom prst="roundRect">
            <a:avLst>
              <a:gd name="adj" fmla="val 6000"/>
            </a:avLst>
          </a:prstGeom>
          <a:solidFill>
            <a:srgbClr val="E7F6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95C10A-B166-088C-2F1E-A78BA32AF2FE}"/>
              </a:ext>
            </a:extLst>
          </p:cNvPr>
          <p:cNvSpPr txBox="1"/>
          <p:nvPr/>
        </p:nvSpPr>
        <p:spPr>
          <a:xfrm>
            <a:off x="731520" y="3977640"/>
            <a:ext cx="493776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0E9F8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② 본 리매핑   </a:t>
            </a:r>
            <a:r>
              <a:rPr lang="en-US" altLang="ko-KR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SetClothes()</a:t>
            </a:r>
            <a:endParaRPr lang="ko-KR" altLang="en-US" sz="1100">
              <a:solidFill>
                <a:srgbClr val="6B647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60F6CA-66B9-8A56-075A-9A4340CC5B59}"/>
              </a:ext>
            </a:extLst>
          </p:cNvPr>
          <p:cNvSpPr txBox="1"/>
          <p:nvPr/>
        </p:nvSpPr>
        <p:spPr>
          <a:xfrm>
            <a:off x="731520" y="4389120"/>
            <a:ext cx="15544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000" b="1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옷 프리팹의 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6D4C7E-F1ED-340E-2FBE-305B5D472316}"/>
              </a:ext>
            </a:extLst>
          </p:cNvPr>
          <p:cNvSpPr txBox="1"/>
          <p:nvPr/>
        </p:nvSpPr>
        <p:spPr>
          <a:xfrm>
            <a:off x="4114800" y="4389120"/>
            <a:ext cx="15544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000" b="1">
                <a:solidFill>
                  <a:srgbClr val="0E9F8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캐릭터의 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1459E7-2C07-3EE2-1982-0D95DE8F17AB}"/>
              </a:ext>
            </a:extLst>
          </p:cNvPr>
          <p:cNvSpPr txBox="1"/>
          <p:nvPr/>
        </p:nvSpPr>
        <p:spPr>
          <a:xfrm>
            <a:off x="2286000" y="4389120"/>
            <a:ext cx="182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같은 이름으로 매칭 </a:t>
            </a:r>
            <a:r>
              <a:rPr lang="en-US" altLang="ko-KR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(boneMap)</a:t>
            </a:r>
            <a:endParaRPr lang="ko-KR" altLang="en-US" sz="1000">
              <a:solidFill>
                <a:srgbClr val="6B647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1FD84FA-134A-4812-81A9-2C0A61DCDD56}"/>
              </a:ext>
            </a:extLst>
          </p:cNvPr>
          <p:cNvSpPr/>
          <p:nvPr/>
        </p:nvSpPr>
        <p:spPr>
          <a:xfrm>
            <a:off x="731520" y="4663440"/>
            <a:ext cx="1554480" cy="2468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8A82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altLang="ko-KR" sz="1000" b="1">
                <a:solidFill>
                  <a:srgbClr val="1F1A2E"/>
                </a:solidFill>
                <a:latin typeface="Consolas" panose="020B0609020204030204" pitchFamily="49" charset="0"/>
              </a:rPr>
              <a:t>Skl_Root</a:t>
            </a:r>
            <a:endParaRPr lang="ko-KR" altLang="en-US" sz="1000" b="1">
              <a:solidFill>
                <a:srgbClr val="1F1A2E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9425952-C43C-EE96-5CF2-73EB5B8A7B9B}"/>
              </a:ext>
            </a:extLst>
          </p:cNvPr>
          <p:cNvSpPr/>
          <p:nvPr/>
        </p:nvSpPr>
        <p:spPr>
          <a:xfrm>
            <a:off x="4114800" y="4663440"/>
            <a:ext cx="1554480" cy="246888"/>
          </a:xfrm>
          <a:prstGeom prst="roundRect">
            <a:avLst>
              <a:gd name="adj" fmla="val 30000"/>
            </a:avLst>
          </a:prstGeom>
          <a:solidFill>
            <a:srgbClr val="0E9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Consolas" panose="020B0609020204030204" pitchFamily="49" charset="0"/>
              </a:rPr>
              <a:t>Skl_Root</a:t>
            </a:r>
            <a:endParaRPr lang="ko-KR" altLang="en-US" sz="10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976649AF-18BF-1D0B-C150-363A0AC75216}"/>
              </a:ext>
            </a:extLst>
          </p:cNvPr>
          <p:cNvCxnSpPr/>
          <p:nvPr/>
        </p:nvCxnSpPr>
        <p:spPr>
          <a:xfrm>
            <a:off x="2331720" y="4786884"/>
            <a:ext cx="1737360" cy="0"/>
          </a:xfrm>
          <a:prstGeom prst="line">
            <a:avLst/>
          </a:prstGeom>
          <a:ln w="22225">
            <a:solidFill>
              <a:srgbClr val="0E9F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B374DD88-5006-E408-1753-337546EB0AF9}"/>
              </a:ext>
            </a:extLst>
          </p:cNvPr>
          <p:cNvSpPr/>
          <p:nvPr/>
        </p:nvSpPr>
        <p:spPr>
          <a:xfrm>
            <a:off x="731520" y="4974336"/>
            <a:ext cx="1554480" cy="2468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8A82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altLang="ko-KR" sz="1000" b="1">
                <a:solidFill>
                  <a:srgbClr val="1F1A2E"/>
                </a:solidFill>
                <a:latin typeface="Consolas" panose="020B0609020204030204" pitchFamily="49" charset="0"/>
              </a:rPr>
              <a:t>Spine_1</a:t>
            </a:r>
            <a:endParaRPr lang="ko-KR" altLang="en-US" sz="1000" b="1">
              <a:solidFill>
                <a:srgbClr val="1F1A2E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59FD958-A41E-8CF1-0363-AEE1EF196E0E}"/>
              </a:ext>
            </a:extLst>
          </p:cNvPr>
          <p:cNvSpPr/>
          <p:nvPr/>
        </p:nvSpPr>
        <p:spPr>
          <a:xfrm>
            <a:off x="4114800" y="4974336"/>
            <a:ext cx="1554480" cy="246888"/>
          </a:xfrm>
          <a:prstGeom prst="roundRect">
            <a:avLst>
              <a:gd name="adj" fmla="val 30000"/>
            </a:avLst>
          </a:prstGeom>
          <a:solidFill>
            <a:srgbClr val="0E9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Consolas" panose="020B0609020204030204" pitchFamily="49" charset="0"/>
              </a:rPr>
              <a:t>Spine_1</a:t>
            </a:r>
            <a:endParaRPr lang="ko-KR" altLang="en-US" sz="10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C09F76AC-E49B-1F8B-0960-6DF185CBA69B}"/>
              </a:ext>
            </a:extLst>
          </p:cNvPr>
          <p:cNvCxnSpPr/>
          <p:nvPr/>
        </p:nvCxnSpPr>
        <p:spPr>
          <a:xfrm>
            <a:off x="2331720" y="5097780"/>
            <a:ext cx="1737360" cy="0"/>
          </a:xfrm>
          <a:prstGeom prst="line">
            <a:avLst/>
          </a:prstGeom>
          <a:ln w="22225">
            <a:solidFill>
              <a:srgbClr val="0E9F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EB02FDE7-EE63-8EA6-9538-5F65C1737C2A}"/>
              </a:ext>
            </a:extLst>
          </p:cNvPr>
          <p:cNvSpPr/>
          <p:nvPr/>
        </p:nvSpPr>
        <p:spPr>
          <a:xfrm>
            <a:off x="731520" y="5285232"/>
            <a:ext cx="1554480" cy="2468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8A82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altLang="ko-KR" sz="1000" b="1">
                <a:solidFill>
                  <a:srgbClr val="1F1A2E"/>
                </a:solidFill>
                <a:latin typeface="Consolas" panose="020B0609020204030204" pitchFamily="49" charset="0"/>
              </a:rPr>
              <a:t>Arm_1_L</a:t>
            </a:r>
            <a:endParaRPr lang="ko-KR" altLang="en-US" sz="1000" b="1">
              <a:solidFill>
                <a:srgbClr val="1F1A2E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4CC41D5-BD92-C5C2-9662-B7B5F8D2EAAF}"/>
              </a:ext>
            </a:extLst>
          </p:cNvPr>
          <p:cNvSpPr/>
          <p:nvPr/>
        </p:nvSpPr>
        <p:spPr>
          <a:xfrm>
            <a:off x="4114800" y="5285232"/>
            <a:ext cx="1554480" cy="246888"/>
          </a:xfrm>
          <a:prstGeom prst="roundRect">
            <a:avLst>
              <a:gd name="adj" fmla="val 30000"/>
            </a:avLst>
          </a:prstGeom>
          <a:solidFill>
            <a:srgbClr val="0E9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Consolas" panose="020B0609020204030204" pitchFamily="49" charset="0"/>
              </a:rPr>
              <a:t>Arm_1_L</a:t>
            </a:r>
            <a:endParaRPr lang="ko-KR" altLang="en-US" sz="10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07E50A63-8C5A-0C8C-FF5A-90BA73E4A45B}"/>
              </a:ext>
            </a:extLst>
          </p:cNvPr>
          <p:cNvCxnSpPr/>
          <p:nvPr/>
        </p:nvCxnSpPr>
        <p:spPr>
          <a:xfrm>
            <a:off x="2331720" y="5408676"/>
            <a:ext cx="1737360" cy="0"/>
          </a:xfrm>
          <a:prstGeom prst="line">
            <a:avLst/>
          </a:prstGeom>
          <a:ln w="22225">
            <a:solidFill>
              <a:srgbClr val="0E9F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95B0C66-83D9-4E62-B068-B91E9A38F9C7}"/>
              </a:ext>
            </a:extLst>
          </p:cNvPr>
          <p:cNvSpPr/>
          <p:nvPr/>
        </p:nvSpPr>
        <p:spPr>
          <a:xfrm>
            <a:off x="731520" y="5596128"/>
            <a:ext cx="1554480" cy="2468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8A82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altLang="ko-KR" sz="1000" b="1">
                <a:solidFill>
                  <a:srgbClr val="1F1A2E"/>
                </a:solidFill>
                <a:latin typeface="Consolas" panose="020B0609020204030204" pitchFamily="49" charset="0"/>
              </a:rPr>
              <a:t>…</a:t>
            </a:r>
            <a:endParaRPr lang="ko-KR" altLang="en-US" sz="1000" b="1">
              <a:solidFill>
                <a:srgbClr val="1F1A2E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4C31103D-1335-7FFD-1246-9FFB8EFDF24D}"/>
              </a:ext>
            </a:extLst>
          </p:cNvPr>
          <p:cNvSpPr/>
          <p:nvPr/>
        </p:nvSpPr>
        <p:spPr>
          <a:xfrm>
            <a:off x="4114800" y="5596128"/>
            <a:ext cx="1554480" cy="246888"/>
          </a:xfrm>
          <a:prstGeom prst="roundRect">
            <a:avLst>
              <a:gd name="adj" fmla="val 30000"/>
            </a:avLst>
          </a:prstGeom>
          <a:solidFill>
            <a:srgbClr val="0E9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Consolas" panose="020B0609020204030204" pitchFamily="49" charset="0"/>
              </a:rPr>
              <a:t>…</a:t>
            </a:r>
            <a:endParaRPr lang="ko-KR" altLang="en-US" sz="10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7CB3D115-3862-5B5D-0D1F-23E5477BF59D}"/>
              </a:ext>
            </a:extLst>
          </p:cNvPr>
          <p:cNvSpPr/>
          <p:nvPr/>
        </p:nvSpPr>
        <p:spPr>
          <a:xfrm>
            <a:off x="731520" y="5971032"/>
            <a:ext cx="4937760" cy="329184"/>
          </a:xfrm>
          <a:prstGeom prst="roundRect">
            <a:avLst>
              <a:gd name="adj" fmla="val 50000"/>
            </a:avLst>
          </a:prstGeom>
          <a:solidFill>
            <a:srgbClr val="0E9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0" rIns="101600" bIns="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✓ renderer.bones · rootBone </a:t>
            </a:r>
            <a:r>
              <a:rPr lang="ko-KR" altLang="en-US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교체 → 옷의 </a:t>
            </a:r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Armature</a:t>
            </a:r>
            <a:r>
              <a:rPr lang="ko-KR" altLang="en-US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</a:t>
            </a:r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Destroy</a:t>
            </a:r>
            <a:endParaRPr lang="ko-KR" altLang="en-US" sz="1100" b="1">
              <a:solidFill>
                <a:srgbClr val="FFFFFF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D74375F1-2FED-B0C2-6115-EF464A5A2404}"/>
              </a:ext>
            </a:extLst>
          </p:cNvPr>
          <p:cNvSpPr/>
          <p:nvPr/>
        </p:nvSpPr>
        <p:spPr>
          <a:xfrm>
            <a:off x="6400800" y="1371600"/>
            <a:ext cx="384048" cy="384048"/>
          </a:xfrm>
          <a:prstGeom prst="ellipse">
            <a:avLst/>
          </a:prstGeom>
          <a:solidFill>
            <a:srgbClr val="6A2C9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F00F17-68C8-4BAC-6D86-DF077BB96A6C}"/>
              </a:ext>
            </a:extLst>
          </p:cNvPr>
          <p:cNvSpPr txBox="1"/>
          <p:nvPr/>
        </p:nvSpPr>
        <p:spPr>
          <a:xfrm>
            <a:off x="6949440" y="1389888"/>
            <a:ext cx="475488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부위별 프리팹 장착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81A1526-A4DD-0E75-2617-C7644946CE6A}"/>
              </a:ext>
            </a:extLst>
          </p:cNvPr>
          <p:cNvSpPr txBox="1"/>
          <p:nvPr/>
        </p:nvSpPr>
        <p:spPr>
          <a:xfrm>
            <a:off x="6949440" y="1828800"/>
            <a:ext cx="47548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PlayerCustomization(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부위별 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enum)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을 기준으로</a:t>
            </a:r>
            <a:b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Resources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에서 옷 프리팹을 불러와 장착한다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b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값이 바뀌면 기존 옷을 모두 지우고 다시 입힌다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1F1A2E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C7FA3670-B970-BE1E-D926-6C0AF7FA5A1D}"/>
              </a:ext>
            </a:extLst>
          </p:cNvPr>
          <p:cNvSpPr/>
          <p:nvPr/>
        </p:nvSpPr>
        <p:spPr>
          <a:xfrm>
            <a:off x="6400800" y="2834640"/>
            <a:ext cx="384048" cy="384048"/>
          </a:xfrm>
          <a:prstGeom prst="ellipse">
            <a:avLst/>
          </a:prstGeom>
          <a:solidFill>
            <a:srgbClr val="0E9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1BDFF6-9E29-DE71-1D9E-D9CCCF44D836}"/>
              </a:ext>
            </a:extLst>
          </p:cNvPr>
          <p:cNvSpPr txBox="1"/>
          <p:nvPr/>
        </p:nvSpPr>
        <p:spPr>
          <a:xfrm>
            <a:off x="6949440" y="2852928"/>
            <a:ext cx="475488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b="1">
                <a:solidFill>
                  <a:srgbClr val="0E9F8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본 리매핑으로 애니메이션 공유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C4800D0-897F-1D12-D62F-A5AD9ABA9B7D}"/>
              </a:ext>
            </a:extLst>
          </p:cNvPr>
          <p:cNvSpPr txBox="1"/>
          <p:nvPr/>
        </p:nvSpPr>
        <p:spPr>
          <a:xfrm>
            <a:off x="6949440" y="3291840"/>
            <a:ext cx="47548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옷 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SkinnedMeshRenderer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 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bones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를 이름이 같은</a:t>
            </a:r>
            <a:b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캐릭터 본으로 교체한다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옷이 캐릭터 애니메이션을</a:t>
            </a:r>
            <a:b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그대로 따라 움직이고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옷의 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Armature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삭제한다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1F1A2E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C354852B-D939-50B2-1CDB-CE3FEEA2ADEC}"/>
              </a:ext>
            </a:extLst>
          </p:cNvPr>
          <p:cNvSpPr/>
          <p:nvPr/>
        </p:nvSpPr>
        <p:spPr>
          <a:xfrm>
            <a:off x="6400800" y="4297680"/>
            <a:ext cx="384048" cy="384048"/>
          </a:xfrm>
          <a:prstGeom prst="ellipse">
            <a:avLst/>
          </a:prstGeom>
          <a:solidFill>
            <a:srgbClr val="F26B1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3</a:t>
            </a:r>
            <a:endParaRPr lang="ko-KR" altLang="en-US" sz="14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94D432E-2AF6-FA66-A497-425ED9BE9C07}"/>
              </a:ext>
            </a:extLst>
          </p:cNvPr>
          <p:cNvSpPr txBox="1"/>
          <p:nvPr/>
        </p:nvSpPr>
        <p:spPr>
          <a:xfrm>
            <a:off x="6949440" y="4315968"/>
            <a:ext cx="475488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b="1">
                <a:solidFill>
                  <a:srgbClr val="F26B1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멀티플레이 동기화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51D2A57-BBF1-63DB-9E9D-61845307DF3B}"/>
              </a:ext>
            </a:extLst>
          </p:cNvPr>
          <p:cNvSpPr txBox="1"/>
          <p:nvPr/>
        </p:nvSpPr>
        <p:spPr>
          <a:xfrm>
            <a:off x="6949440" y="4754880"/>
            <a:ext cx="47548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177800" indent="-177800">
              <a:spcAft>
                <a:spcPts val="600"/>
              </a:spcAft>
              <a:buClr>
                <a:srgbClr val="F26B1D"/>
              </a:buClr>
              <a:buFont typeface="+mj-lt"/>
              <a:buChar char="•"/>
            </a:pP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내가 고른 값을 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RPC_SubmitCustomization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으로</a:t>
            </a:r>
            <a:b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Host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 전달</a:t>
            </a:r>
          </a:p>
          <a:p>
            <a:pPr marL="177800" indent="-177800">
              <a:spcAft>
                <a:spcPts val="600"/>
              </a:spcAft>
              <a:buClr>
                <a:srgbClr val="F26B1D"/>
              </a:buClr>
              <a:buFont typeface="+mj-lt"/>
              <a:buChar char="•"/>
            </a:pP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[Networked] PlayerCustomization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모든 피어로 복제</a:t>
            </a:r>
          </a:p>
          <a:p>
            <a:pPr marL="177800" indent="-177800">
              <a:spcAft>
                <a:spcPts val="600"/>
              </a:spcAft>
              <a:buClr>
                <a:srgbClr val="F26B1D"/>
              </a:buClr>
              <a:buFont typeface="+mj-lt"/>
              <a:buChar char="•"/>
            </a:pP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OnChangedRender → 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각 피어가</a:t>
            </a:r>
            <a:b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SetCustomization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으로 같은 옷을 재장착</a:t>
            </a:r>
          </a:p>
        </p:txBody>
      </p:sp>
    </p:spTree>
    <p:extLst>
      <p:ext uri="{BB962C8B-B14F-4D97-AF65-F5344CB8AC3E}">
        <p14:creationId xmlns:p14="http://schemas.microsoft.com/office/powerpoint/2010/main" val="1829503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</Words>
  <Application>Microsoft Office PowerPoint</Application>
  <PresentationFormat>사용자 지정</PresentationFormat>
  <Paragraphs>37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Malgun Gothic</vt:lpstr>
      <vt:lpstr>Malgun Gothic</vt:lpstr>
      <vt:lpstr>Arial</vt:lpstr>
      <vt:lpstr>Consolas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MJ</dc:creator>
  <cp:lastModifiedBy>MJ</cp:lastModifiedBy>
  <cp:revision>1</cp:revision>
  <dcterms:created xsi:type="dcterms:W3CDTF">2026-10-04T12:13:49Z</dcterms:created>
  <dcterms:modified xsi:type="dcterms:W3CDTF">2026-10-04T12:13:49Z</dcterms:modified>
</cp:coreProperties>
</file>