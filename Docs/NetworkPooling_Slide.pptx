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02C8B-3B8E-4B64-B045-0AE450692EC9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D300BD-9C6C-4D43-80D5-7937E7A29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08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기본 풀링</a:t>
            </a:r>
            <a:r>
              <a:rPr lang="en-US" altLang="ko-KR"/>
              <a:t>(PoolManager)</a:t>
            </a:r>
            <a:r>
              <a:rPr lang="ko-KR" altLang="en-US"/>
              <a:t>은 </a:t>
            </a:r>
            <a:r>
              <a:rPr lang="en-US" altLang="ko-KR"/>
              <a:t>FXState</a:t>
            </a:r>
            <a:r>
              <a:rPr lang="ko-KR" altLang="en-US"/>
              <a:t>별 </a:t>
            </a:r>
            <a:r>
              <a:rPr lang="en-US" altLang="ko-KR"/>
              <a:t>Stack</a:t>
            </a:r>
            <a:r>
              <a:rPr lang="ko-KR" altLang="en-US"/>
              <a:t>을 두고 </a:t>
            </a:r>
            <a:r>
              <a:rPr lang="en-US" altLang="ko-KR"/>
              <a:t>Awake</a:t>
            </a:r>
            <a:r>
              <a:rPr lang="ko-KR" altLang="en-US"/>
              <a:t>에서 </a:t>
            </a:r>
            <a:r>
              <a:rPr lang="en-US" altLang="ko-KR"/>
              <a:t>_count</a:t>
            </a:r>
            <a:r>
              <a:rPr lang="ko-KR" altLang="en-US"/>
              <a:t>만큼 </a:t>
            </a:r>
            <a:r>
              <a:rPr lang="en-US" altLang="ko-KR"/>
              <a:t>FX</a:t>
            </a:r>
            <a:r>
              <a:rPr lang="ko-KR" altLang="en-US"/>
              <a:t>를 미리 만들어 둔다</a:t>
            </a:r>
            <a:r>
              <a:rPr lang="en-US" altLang="ko-KR"/>
              <a:t>. GetFX</a:t>
            </a:r>
            <a:r>
              <a:rPr lang="ko-KR" altLang="en-US"/>
              <a:t>로 </a:t>
            </a:r>
            <a:r>
              <a:rPr lang="en-US" altLang="ko-KR"/>
              <a:t>Pop</a:t>
            </a:r>
            <a:r>
              <a:rPr lang="ko-KR" altLang="en-US"/>
              <a:t>해 위치를 지정한 뒤 켜고</a:t>
            </a:r>
            <a:r>
              <a:rPr lang="en-US" altLang="ko-KR"/>
              <a:t>, lifeTime</a:t>
            </a:r>
            <a:r>
              <a:rPr lang="ko-KR" altLang="en-US"/>
              <a:t>이 지나면 </a:t>
            </a:r>
            <a:r>
              <a:rPr lang="en-US" altLang="ko-KR"/>
              <a:t>ReleaseFXAfter </a:t>
            </a:r>
            <a:r>
              <a:rPr lang="ko-KR" altLang="en-US"/>
              <a:t>코루틴이 꺼서 </a:t>
            </a:r>
            <a:r>
              <a:rPr lang="en-US" altLang="ko-KR"/>
              <a:t>Push</a:t>
            </a:r>
            <a:r>
              <a:rPr lang="ko-KR" altLang="en-US"/>
              <a:t>한다</a:t>
            </a:r>
            <a:r>
              <a:rPr lang="en-US" altLang="ko-KR"/>
              <a:t>. </a:t>
            </a:r>
            <a:r>
              <a:rPr lang="ko-KR" altLang="en-US"/>
              <a:t>이 방식은 로컬 오브젝트만 재사용하고 네트워크에는 알리지 않으므로</a:t>
            </a:r>
            <a:r>
              <a:rPr lang="en-US" altLang="ko-KR"/>
              <a:t>, RPC</a:t>
            </a:r>
            <a:r>
              <a:rPr lang="ko-KR" altLang="en-US"/>
              <a:t>를 받은 각 피어가 직접 재생하는 </a:t>
            </a:r>
            <a:r>
              <a:rPr lang="en-US" altLang="ko-KR"/>
              <a:t>FX</a:t>
            </a:r>
            <a:r>
              <a:rPr lang="ko-KR" altLang="en-US"/>
              <a:t>에만 사용한다</a:t>
            </a:r>
            <a:r>
              <a:rPr lang="en-US" altLang="ko-KR"/>
              <a:t>. Fusion 2</a:t>
            </a:r>
            <a:r>
              <a:rPr lang="ko-KR" altLang="en-US"/>
              <a:t>에서는 </a:t>
            </a:r>
            <a:r>
              <a:rPr lang="en-US" altLang="ko-KR"/>
              <a:t>Runner</a:t>
            </a:r>
            <a:r>
              <a:rPr lang="ko-KR" altLang="en-US"/>
              <a:t>가 </a:t>
            </a:r>
            <a:r>
              <a:rPr lang="en-US" altLang="ko-KR"/>
              <a:t>NetworkObject</a:t>
            </a:r>
            <a:r>
              <a:rPr lang="ko-KR" altLang="en-US"/>
              <a:t>의 생성</a:t>
            </a:r>
            <a:r>
              <a:rPr lang="en-US" altLang="ko-KR"/>
              <a:t>/</a:t>
            </a:r>
            <a:r>
              <a:rPr lang="ko-KR" altLang="en-US"/>
              <a:t>파괴를 관리하므로</a:t>
            </a:r>
            <a:r>
              <a:rPr lang="en-US" altLang="ko-KR"/>
              <a:t>, NetworkRunner</a:t>
            </a:r>
            <a:r>
              <a:rPr lang="ko-KR" altLang="en-US"/>
              <a:t>의 </a:t>
            </a:r>
            <a:r>
              <a:rPr lang="en-US" altLang="ko-KR"/>
              <a:t>ObjectProvider(INetworkObjectProvider)</a:t>
            </a:r>
            <a:r>
              <a:rPr lang="ko-KR" altLang="en-US"/>
              <a:t>를 </a:t>
            </a:r>
            <a:r>
              <a:rPr lang="en-US" altLang="ko-KR"/>
              <a:t>PooledNetworkObjectProvider</a:t>
            </a:r>
            <a:r>
              <a:rPr lang="ko-KR" altLang="en-US"/>
              <a:t>로 교체해 </a:t>
            </a:r>
            <a:r>
              <a:rPr lang="en-US" altLang="ko-KR"/>
              <a:t>Spawn/Despawn </a:t>
            </a:r>
            <a:r>
              <a:rPr lang="ko-KR" altLang="en-US"/>
              <a:t>경로 안에서 풀링한다</a:t>
            </a:r>
            <a:r>
              <a:rPr lang="en-US" altLang="ko-KR"/>
              <a:t>. </a:t>
            </a:r>
            <a:r>
              <a:rPr lang="ko-KR" altLang="en-US"/>
              <a:t>재사용 시 </a:t>
            </a:r>
            <a:r>
              <a:rPr lang="en-US" altLang="ko-KR"/>
              <a:t>Despawned()</a:t>
            </a:r>
            <a:r>
              <a:rPr lang="ko-KR" altLang="en-US"/>
              <a:t>에서 로컬 상태를 리셋하고</a:t>
            </a:r>
            <a:r>
              <a:rPr lang="en-US" altLang="ko-KR"/>
              <a:t>, Spawned()</a:t>
            </a:r>
            <a:r>
              <a:rPr lang="ko-KR" altLang="en-US"/>
              <a:t>에서는 컴포넌트 캐싱을 최초 </a:t>
            </a:r>
            <a:r>
              <a:rPr lang="en-US" altLang="ko-KR"/>
              <a:t>1</a:t>
            </a:r>
            <a:r>
              <a:rPr lang="ko-KR" altLang="en-US"/>
              <a:t>회만 수행한다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D300BD-9C6C-4D43-80D5-7937E7A2996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034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D39BD-1B72-D313-AC6B-F9252B3A2C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FBDDCB-84A6-E367-1528-30BD779FAB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74D27C-C14B-DC3D-1BFE-B809FC48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20D854-59DE-FCF2-E82A-9DBA64A3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2BD96-7B9A-6F7A-DC04-C8BB9F834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28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5C06C-5E6C-247F-18D1-D91B4CE4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151D96-8EF8-E4E6-80E9-2EBB227748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4180B0-BA67-B04B-987D-D3C5F4E67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3558C2-5C4B-94D0-FCD9-90CAF06D0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A21DF-F90B-5305-EEDD-75D2932AE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993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B4A22-2D4D-C223-FAE6-448A87B6C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1FB841D-A567-10DA-9CF7-8C9B26BEF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19D7F5-C9F4-A546-69BE-9ACF6178F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AF6DAC-7F6E-77B8-5B3A-26CFC51A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E33190-A869-94B5-4D39-F62E7ABE9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8623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23B35F-E7AA-6BB3-7867-99F60779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61741-749D-70D1-5129-DDB43A1B56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4EB384-25B0-1BE7-7381-BAECA7B9E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C27C6AB-5592-3850-3EBD-45342802F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E4FFF7-0E5D-37E8-7394-539840E1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D9029F-D595-AD27-9B7C-4C6070384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355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61D79-A2B4-2EA1-9037-837F3FFD8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A09EA5-E207-1E6E-A4E5-FA38409C1E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2027B0B-12B9-8938-D23E-A287F8714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90AD41D-32FE-7E39-F756-DC8C251A6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CA4A2B-DA5E-5FDB-C972-6F85683E87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F30AABC-357C-7288-5539-579B08261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B698B36-7D8A-3CE3-0B96-EF863080A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F415D8D-D20D-104B-9FC5-8EAD3FC35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8653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5CD10E-5E35-0539-88BC-0571E6467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F5E13C-9B38-5052-4106-5E3582144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8217D8E-23B0-103A-3B6F-5E250655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6AABFE-C320-7AB3-BC34-5D3E2AACE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788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1923DAF-E585-54AD-A862-28F45704E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5A5EB81-2F6E-54BC-E683-FE41CD9A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00A8FA-267D-C69D-0030-8BBA5EA7F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1018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CE5487-8285-8BD0-F10C-10BD5BF7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8969DD-5308-A868-714E-16E6BA5DE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C6845-95CA-02E5-172F-77F873BC9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41C706-AE4C-255C-660C-3869D1F68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D311FD6-983B-E439-5466-60E17624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4670F0B-59B7-B2F5-61E8-9B1F4F2F5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48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BD11B0-22C8-B85D-CBC2-A6240E50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B17F609-431C-F37E-B23B-FD3327B8140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6F0AD6-E695-A344-68A1-3FA851D46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42D2044-4B74-7CF7-988C-C3EB5A87F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CF2C77E-367A-B8AF-265D-50488BEF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CC3B41-8893-DD13-EC84-AB8A4D99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75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B7B2D-7043-4F58-67BF-EF8B506C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3B5914D-4FAC-FDB6-D5EA-BAC0E853B3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4C9BF0-3086-DD54-C0A4-DBF83A18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6CD234-AD1C-E513-44ED-741912884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7EB65B-B3BF-E395-E8B2-C127D16D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14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59B9FEC-5CA9-D21A-87A0-8492990E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A3E74C4-7020-5ACF-4E0F-C3452D8D6C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92AE91-6A86-8E28-D2F7-8853605BB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1E08B2E-AD1C-A2CF-2513-26E7B168D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C489F1-9C89-5F2F-213F-85C544717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47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23E35B-E2B8-344F-40CB-BA43D7A2E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D55B96-EE89-A7F2-6650-E8B3F2DED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406741-815F-3EAD-871A-580E585E4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4D5397-5239-40CE-81B2-028E1BE31B1B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14BCD7-ACB2-352B-3FCE-BB417AA4CE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6BDB0F-2B4D-42AF-F66B-D2675D201D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0DBDC8-8397-451F-8482-53E30115E2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205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D97913-CE58-61E8-00ED-C7953BE6044F}"/>
              </a:ext>
            </a:extLst>
          </p:cNvPr>
          <p:cNvSpPr txBox="1"/>
          <p:nvPr/>
        </p:nvSpPr>
        <p:spPr>
          <a:xfrm>
            <a:off x="457200" y="320040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풀링 </a:t>
            </a:r>
            <a:r>
              <a:rPr lang="en-US" altLang="ko-KR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vs </a:t>
            </a:r>
            <a:r>
              <a:rPr lang="ko-KR" altLang="en-US" sz="32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네트워크 풀링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E8CB8-BA4A-4C5A-CC02-332432060E4E}"/>
              </a:ext>
            </a:extLst>
          </p:cNvPr>
          <p:cNvSpPr txBox="1"/>
          <p:nvPr/>
        </p:nvSpPr>
        <p:spPr>
          <a:xfrm>
            <a:off x="457200" y="896112"/>
            <a:ext cx="1124712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Photon Fusion 2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</a:t>
            </a:r>
            <a:r>
              <a:rPr lang="en-US" altLang="ko-KR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NetworkObject</a:t>
            </a:r>
            <a:r>
              <a:rPr lang="ko-KR" altLang="en-US" sz="14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풀링하는 방법과 이유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03592D15-7BEE-8C02-A547-AE3923344BF8}"/>
              </a:ext>
            </a:extLst>
          </p:cNvPr>
          <p:cNvSpPr/>
          <p:nvPr/>
        </p:nvSpPr>
        <p:spPr>
          <a:xfrm>
            <a:off x="457200" y="137160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3F1F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78CCE7-1E05-2E9D-2F60-85DE84AC5422}"/>
              </a:ext>
            </a:extLst>
          </p:cNvPr>
          <p:cNvSpPr txBox="1"/>
          <p:nvPr/>
        </p:nvSpPr>
        <p:spPr>
          <a:xfrm>
            <a:off x="731520" y="150876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① 기본 풀링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PoolManager (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로컬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FX)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F12424B-AA2C-08D9-0EB7-48C985EF2418}"/>
              </a:ext>
            </a:extLst>
          </p:cNvPr>
          <p:cNvSpPr/>
          <p:nvPr/>
        </p:nvSpPr>
        <p:spPr>
          <a:xfrm>
            <a:off x="731520" y="2011680"/>
            <a:ext cx="137160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GetFX(state)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FXState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요청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133D060E-FFBA-20EE-5D19-9A781697410E}"/>
              </a:ext>
            </a:extLst>
          </p:cNvPr>
          <p:cNvSpPr/>
          <p:nvPr/>
        </p:nvSpPr>
        <p:spPr>
          <a:xfrm>
            <a:off x="2331720" y="2011680"/>
            <a:ext cx="192024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Stack.Pop()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Awake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미리 만든 </a:t>
            </a:r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endParaRPr lang="ko-KR" altLang="en-US" sz="10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1E44641-757B-8902-C031-97960DF3DBD4}"/>
              </a:ext>
            </a:extLst>
          </p:cNvPr>
          <p:cNvSpPr/>
          <p:nvPr/>
        </p:nvSpPr>
        <p:spPr>
          <a:xfrm>
            <a:off x="4480560" y="2011680"/>
            <a:ext cx="1188720" cy="6858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8A82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SetActive(true)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위치 지정 후 재생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AA0042F-E981-A273-9B6E-D893D9AF7C1E}"/>
              </a:ext>
            </a:extLst>
          </p:cNvPr>
          <p:cNvCxnSpPr/>
          <p:nvPr/>
        </p:nvCxnSpPr>
        <p:spPr>
          <a:xfrm>
            <a:off x="2103120" y="2354580"/>
            <a:ext cx="22860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8FBED5D6-4296-2851-CAFF-03C76920ED97}"/>
              </a:ext>
            </a:extLst>
          </p:cNvPr>
          <p:cNvCxnSpPr/>
          <p:nvPr/>
        </p:nvCxnSpPr>
        <p:spPr>
          <a:xfrm>
            <a:off x="4251960" y="2354580"/>
            <a:ext cx="228600" cy="0"/>
          </a:xfrm>
          <a:prstGeom prst="line">
            <a:avLst/>
          </a:prstGeom>
          <a:ln w="22225">
            <a:solidFill>
              <a:srgbClr val="8A829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FBBB1A3-6F99-9CB9-35F0-D7CFDDEA20F9}"/>
              </a:ext>
            </a:extLst>
          </p:cNvPr>
          <p:cNvSpPr txBox="1"/>
          <p:nvPr/>
        </p:nvSpPr>
        <p:spPr>
          <a:xfrm>
            <a:off x="731520" y="2788920"/>
            <a:ext cx="493776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↺ lifeTime </a:t>
            </a:r>
            <a:r>
              <a:rPr lang="ko-KR" altLang="en-US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뒤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ReleaseFXAfter → SetActive(false) · Stack.Push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66F30E6-07A1-3121-4C36-E3D4C8681646}"/>
              </a:ext>
            </a:extLst>
          </p:cNvPr>
          <p:cNvSpPr/>
          <p:nvPr/>
        </p:nvSpPr>
        <p:spPr>
          <a:xfrm>
            <a:off x="731520" y="3154680"/>
            <a:ext cx="4937760" cy="36576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⚠ 내 </a:t>
            </a:r>
            <a:r>
              <a:rPr lang="en-US" altLang="ko-KR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동작 → 각자 재생하는 로컬 </a:t>
            </a:r>
            <a:r>
              <a:rPr lang="en-US" altLang="ko-KR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 </a:t>
            </a:r>
            <a:r>
              <a:rPr lang="ko-KR" altLang="en-US" sz="1100" b="1">
                <a:solidFill>
                  <a:srgbClr val="C0392B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전용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C55813D-5E1D-4917-AC0A-9C2AE503CA7E}"/>
              </a:ext>
            </a:extLst>
          </p:cNvPr>
          <p:cNvSpPr/>
          <p:nvPr/>
        </p:nvSpPr>
        <p:spPr>
          <a:xfrm>
            <a:off x="457200" y="3840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E7F6F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F8708C-DA19-2BC0-C5F3-59F6CCF898FE}"/>
              </a:ext>
            </a:extLst>
          </p:cNvPr>
          <p:cNvSpPr txBox="1"/>
          <p:nvPr/>
        </p:nvSpPr>
        <p:spPr>
          <a:xfrm>
            <a:off x="731520" y="3977640"/>
            <a:ext cx="493776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sz="1500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② 네트워크 풀링   </a:t>
            </a:r>
            <a:r>
              <a:rPr lang="en-US" altLang="ko-KR" sz="11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PooledNetworkObjectProvider</a:t>
            </a:r>
            <a:endParaRPr lang="ko-KR" altLang="en-US" sz="1100">
              <a:solidFill>
                <a:srgbClr val="6B6478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CD980D9-F168-DF57-8FC1-1F653CC1B1AB}"/>
              </a:ext>
            </a:extLst>
          </p:cNvPr>
          <p:cNvSpPr/>
          <p:nvPr/>
        </p:nvSpPr>
        <p:spPr>
          <a:xfrm>
            <a:off x="731520" y="4434840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Runner.Spawn()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코드 그대로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85DF723-9E82-04B0-3EAD-923393A8DD60}"/>
              </a:ext>
            </a:extLst>
          </p:cNvPr>
          <p:cNvSpPr/>
          <p:nvPr/>
        </p:nvSpPr>
        <p:spPr>
          <a:xfrm>
            <a:off x="2331720" y="4434840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InstantiatePrefab()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Stack.Pop() ·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풀에서 꺼냄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8CF8978-7128-3E57-EAA9-D8A234C4FB03}"/>
              </a:ext>
            </a:extLst>
          </p:cNvPr>
          <p:cNvSpPr/>
          <p:nvPr/>
        </p:nvSpPr>
        <p:spPr>
          <a:xfrm>
            <a:off x="4480560" y="4434840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Spawned()</a:t>
            </a:r>
          </a:p>
          <a:p>
            <a:pPr algn="ctr"/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상태 동기화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8C15B177-4821-FCA6-6AD4-43CB0867FA9D}"/>
              </a:ext>
            </a:extLst>
          </p:cNvPr>
          <p:cNvCxnSpPr/>
          <p:nvPr/>
        </p:nvCxnSpPr>
        <p:spPr>
          <a:xfrm>
            <a:off x="210312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29A7DF2-3CEB-2738-32D6-9D730EBCBA07}"/>
              </a:ext>
            </a:extLst>
          </p:cNvPr>
          <p:cNvCxnSpPr/>
          <p:nvPr/>
        </p:nvCxnSpPr>
        <p:spPr>
          <a:xfrm>
            <a:off x="4251960" y="4745736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CB409CD-6E61-7718-A60B-4D61E4F26DBA}"/>
              </a:ext>
            </a:extLst>
          </p:cNvPr>
          <p:cNvSpPr/>
          <p:nvPr/>
        </p:nvSpPr>
        <p:spPr>
          <a:xfrm>
            <a:off x="731520" y="5239512"/>
            <a:ext cx="137160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Runner.Despawn()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Despawned() 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리셋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10AE94C-1B9F-A088-7A55-E20D2BC6E4BC}"/>
              </a:ext>
            </a:extLst>
          </p:cNvPr>
          <p:cNvSpPr/>
          <p:nvPr/>
        </p:nvSpPr>
        <p:spPr>
          <a:xfrm>
            <a:off x="2331720" y="5239512"/>
            <a:ext cx="1920240" cy="621792"/>
          </a:xfrm>
          <a:prstGeom prst="roundRect">
            <a:avLst>
              <a:gd name="adj" fmla="val 18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DestroyPrefabInstance()</a:t>
            </a:r>
          </a:p>
          <a:p>
            <a:pPr algn="ctr"/>
            <a:r>
              <a:rPr lang="en-US" altLang="ko-KR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Stack.Push() · </a:t>
            </a:r>
            <a:r>
              <a:rPr lang="ko-KR" altLang="en-US" sz="1000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풀로 반납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F36FB8F-F5F4-BAC7-CE2E-237EEDC105C4}"/>
              </a:ext>
            </a:extLst>
          </p:cNvPr>
          <p:cNvSpPr/>
          <p:nvPr/>
        </p:nvSpPr>
        <p:spPr>
          <a:xfrm>
            <a:off x="4480560" y="5239512"/>
            <a:ext cx="1188720" cy="621792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0E9F8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25400" rIns="38100" bIns="25400" rtlCol="0" anchor="ctr"/>
          <a:lstStyle/>
          <a:p>
            <a:pPr algn="ctr"/>
            <a:r>
              <a:rPr lang="en-US" altLang="ko-KR" sz="1100" b="1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SetActive(false)</a:t>
            </a:r>
          </a:p>
          <a:p>
            <a:pPr algn="ctr"/>
            <a:r>
              <a:rPr lang="en-US" altLang="ko-KR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 </a:t>
            </a:r>
            <a:r>
              <a:rPr lang="ko-KR" altLang="en-US" sz="1000">
                <a:solidFill>
                  <a:srgbClr val="6B6478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밑에 보관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1118894-177C-C188-903A-2C7212CDDE7E}"/>
              </a:ext>
            </a:extLst>
          </p:cNvPr>
          <p:cNvCxnSpPr/>
          <p:nvPr/>
        </p:nvCxnSpPr>
        <p:spPr>
          <a:xfrm>
            <a:off x="210312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485B12C5-CCDB-F553-82D2-5CABA31A10F5}"/>
              </a:ext>
            </a:extLst>
          </p:cNvPr>
          <p:cNvCxnSpPr/>
          <p:nvPr/>
        </p:nvCxnSpPr>
        <p:spPr>
          <a:xfrm>
            <a:off x="4251960" y="5550408"/>
            <a:ext cx="228600" cy="0"/>
          </a:xfrm>
          <a:prstGeom prst="line">
            <a:avLst/>
          </a:prstGeom>
          <a:ln w="22225">
            <a:solidFill>
              <a:srgbClr val="0E9F8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6D7F1CC-2B18-52B7-3197-15EC26E9BD46}"/>
              </a:ext>
            </a:extLst>
          </p:cNvPr>
          <p:cNvSpPr/>
          <p:nvPr/>
        </p:nvSpPr>
        <p:spPr>
          <a:xfrm>
            <a:off x="731520" y="5971032"/>
            <a:ext cx="4937760" cy="329184"/>
          </a:xfrm>
          <a:prstGeom prst="roundRect">
            <a:avLst>
              <a:gd name="adj" fmla="val 50000"/>
            </a:avLst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0" rIns="101600" bIns="0" rtlCol="0" anchor="ctr"/>
          <a:lstStyle/>
          <a:p>
            <a:pPr algn="ctr"/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✓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 · Client 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피어의 </a:t>
            </a:r>
            <a:r>
              <a:rPr lang="en-US" altLang="ko-KR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</a:t>
            </a:r>
            <a:r>
              <a:rPr lang="ko-KR" altLang="en-US" sz="1100" b="1">
                <a:solidFill>
                  <a:srgbClr val="FFFF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가 같은 경로로 재사용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3E9F1542-ED28-5CEB-A55A-EC2F7F16E901}"/>
              </a:ext>
            </a:extLst>
          </p:cNvPr>
          <p:cNvSpPr/>
          <p:nvPr/>
        </p:nvSpPr>
        <p:spPr>
          <a:xfrm>
            <a:off x="6400800" y="1371600"/>
            <a:ext cx="384048" cy="384048"/>
          </a:xfrm>
          <a:prstGeom prst="ellipse">
            <a:avLst/>
          </a:prstGeom>
          <a:solidFill>
            <a:srgbClr val="6A2C9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1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4F220B-34C2-622C-0E05-3D66836FA8DC}"/>
              </a:ext>
            </a:extLst>
          </p:cNvPr>
          <p:cNvSpPr txBox="1"/>
          <p:nvPr/>
        </p:nvSpPr>
        <p:spPr>
          <a:xfrm>
            <a:off x="6949440" y="138988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6A2C9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기본 풀링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F1F9D0-AE7B-BBC0-FAB2-4FF1E3CBB6A8}"/>
              </a:ext>
            </a:extLst>
          </p:cNvPr>
          <p:cNvSpPr txBox="1"/>
          <p:nvPr/>
        </p:nvSpPr>
        <p:spPr>
          <a:xfrm>
            <a:off x="6949440" y="182880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Awake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 미리 만들어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Stack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으로 재사용한다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에서만 동작해 다른 피어는 알 수 없으므로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RPC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각자 재생하는 로컬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FX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에만 쓴다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9D0958B-EF98-0671-60E3-ACB44E042370}"/>
              </a:ext>
            </a:extLst>
          </p:cNvPr>
          <p:cNvSpPr/>
          <p:nvPr/>
        </p:nvSpPr>
        <p:spPr>
          <a:xfrm>
            <a:off x="6400800" y="2834640"/>
            <a:ext cx="384048" cy="384048"/>
          </a:xfrm>
          <a:prstGeom prst="ellipse">
            <a:avLst/>
          </a:prstGeom>
          <a:solidFill>
            <a:srgbClr val="0E9F8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2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E7137C-9C9A-94AC-358B-14A9254E2F54}"/>
              </a:ext>
            </a:extLst>
          </p:cNvPr>
          <p:cNvSpPr txBox="1"/>
          <p:nvPr/>
        </p:nvSpPr>
        <p:spPr>
          <a:xfrm>
            <a:off x="6949440" y="285292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0E9F8A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네트워크 풀링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89E1E6-54B0-48F9-EF08-DE799B7632E8}"/>
              </a:ext>
            </a:extLst>
          </p:cNvPr>
          <p:cNvSpPr txBox="1"/>
          <p:nvPr/>
        </p:nvSpPr>
        <p:spPr>
          <a:xfrm>
            <a:off x="6949440" y="329184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Fusion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의 생성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파괴 경로인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INetworkObjectProvider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를 교체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게임 코드는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Runner.Spawn / Despawn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그대로 두고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,</a:t>
            </a:r>
            <a:b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실제 인스턴스만 풀에서 꺼내고 반납한다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  <a:endParaRPr lang="ko-KR" altLang="en-US" sz="1400">
              <a:solidFill>
                <a:srgbClr val="1F1A2E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671187-A136-7388-530B-E6F393548C71}"/>
              </a:ext>
            </a:extLst>
          </p:cNvPr>
          <p:cNvSpPr/>
          <p:nvPr/>
        </p:nvSpPr>
        <p:spPr>
          <a:xfrm>
            <a:off x="6400800" y="4297680"/>
            <a:ext cx="384048" cy="384048"/>
          </a:xfrm>
          <a:prstGeom prst="ellipse">
            <a:avLst/>
          </a:prstGeom>
          <a:solidFill>
            <a:srgbClr val="F26B1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1400" b="1">
                <a:solidFill>
                  <a:srgbClr val="FFFFFF"/>
                </a:solidFill>
                <a:latin typeface="Malgun Gothic" panose="020B0503020000020004" pitchFamily="50" charset="-127"/>
              </a:rPr>
              <a:t>3</a:t>
            </a:r>
            <a:endParaRPr lang="ko-KR" altLang="en-US" sz="1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BD2C38-9B26-C743-A92B-54683C591943}"/>
              </a:ext>
            </a:extLst>
          </p:cNvPr>
          <p:cNvSpPr txBox="1"/>
          <p:nvPr/>
        </p:nvSpPr>
        <p:spPr>
          <a:xfrm>
            <a:off x="6949440" y="4315968"/>
            <a:ext cx="4754880" cy="3657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왜 </a:t>
            </a:r>
            <a:r>
              <a:rPr lang="en-US" altLang="ko-KR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Fusion 2</a:t>
            </a:r>
            <a:r>
              <a:rPr lang="ko-KR" altLang="en-US" b="1">
                <a:solidFill>
                  <a:srgbClr val="F26B1D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에 필요한가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D6A33E-6138-CF60-B193-826232B1C9AB}"/>
              </a:ext>
            </a:extLst>
          </p:cNvPr>
          <p:cNvSpPr txBox="1"/>
          <p:nvPr/>
        </p:nvSpPr>
        <p:spPr>
          <a:xfrm>
            <a:off x="6949440" y="4754880"/>
            <a:ext cx="475488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잉크 탄은 초당 수십 발 생성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삭제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매번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Instantiate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하면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GC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스파이크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·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프레임 드랍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NetworkObject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생명주기는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Runner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소유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SetActive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로 우회하면 동기화가 깨짐</a:t>
            </a:r>
          </a:p>
          <a:p>
            <a:pPr marL="177800" indent="-177800">
              <a:spcAft>
                <a:spcPts val="600"/>
              </a:spcAft>
              <a:buClr>
                <a:srgbClr val="F26B1D"/>
              </a:buClr>
              <a:buFont typeface="+mj-lt"/>
              <a:buChar char="•"/>
            </a:pP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Provider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는 </a:t>
            </a:r>
            <a:r>
              <a:rPr lang="en-US" altLang="ko-KR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Host·Client </a:t>
            </a: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모두에서 호출 →</a:t>
            </a:r>
            <a:b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</a:br>
            <a:r>
              <a:rPr lang="ko-KR" altLang="en-US" sz="1400">
                <a:solidFill>
                  <a:srgbClr val="1F1A2E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모든 피어가 각자 풀을 재사용</a:t>
            </a:r>
          </a:p>
        </p:txBody>
      </p:sp>
    </p:spTree>
    <p:extLst>
      <p:ext uri="{BB962C8B-B14F-4D97-AF65-F5344CB8AC3E}">
        <p14:creationId xmlns:p14="http://schemas.microsoft.com/office/powerpoint/2010/main" val="4005786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351</Words>
  <Application>Microsoft Office PowerPoint</Application>
  <PresentationFormat>사용자 지정</PresentationFormat>
  <Paragraphs>38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MJ</dc:creator>
  <cp:lastModifiedBy>MJ</cp:lastModifiedBy>
  <cp:revision>1</cp:revision>
  <dcterms:created xsi:type="dcterms:W3CDTF">2026-10-04T13:05:09Z</dcterms:created>
  <dcterms:modified xsi:type="dcterms:W3CDTF">2026-10-04T13:05:09Z</dcterms:modified>
</cp:coreProperties>
</file>