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3C4240-89E3-4803-95A5-2A587FB33756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668EB8-8822-4C2A-8A0E-49D5A0B59C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767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기본 풀링</a:t>
            </a:r>
            <a:r>
              <a:rPr lang="en-US" altLang="ko-KR"/>
              <a:t>(PoolManager)</a:t>
            </a:r>
            <a:r>
              <a:rPr lang="ko-KR" altLang="en-US"/>
              <a:t>은 </a:t>
            </a:r>
            <a:r>
              <a:rPr lang="en-US" altLang="ko-KR"/>
              <a:t>FXState</a:t>
            </a:r>
            <a:r>
              <a:rPr lang="ko-KR" altLang="en-US"/>
              <a:t>별 </a:t>
            </a:r>
            <a:r>
              <a:rPr lang="en-US" altLang="ko-KR"/>
              <a:t>Stack</a:t>
            </a:r>
            <a:r>
              <a:rPr lang="ko-KR" altLang="en-US"/>
              <a:t>을 두고 </a:t>
            </a:r>
            <a:r>
              <a:rPr lang="en-US" altLang="ko-KR"/>
              <a:t>Awake</a:t>
            </a:r>
            <a:r>
              <a:rPr lang="ko-KR" altLang="en-US"/>
              <a:t>에서 </a:t>
            </a:r>
            <a:r>
              <a:rPr lang="en-US" altLang="ko-KR"/>
              <a:t>_count</a:t>
            </a:r>
            <a:r>
              <a:rPr lang="ko-KR" altLang="en-US"/>
              <a:t>만큼 </a:t>
            </a:r>
            <a:r>
              <a:rPr lang="en-US" altLang="ko-KR"/>
              <a:t>FX</a:t>
            </a:r>
            <a:r>
              <a:rPr lang="ko-KR" altLang="en-US"/>
              <a:t>를 미리 만들어 둔다</a:t>
            </a:r>
            <a:r>
              <a:rPr lang="en-US" altLang="ko-KR"/>
              <a:t>. GetFX</a:t>
            </a:r>
            <a:r>
              <a:rPr lang="ko-KR" altLang="en-US"/>
              <a:t>로 </a:t>
            </a:r>
            <a:r>
              <a:rPr lang="en-US" altLang="ko-KR"/>
              <a:t>Pop</a:t>
            </a:r>
            <a:r>
              <a:rPr lang="ko-KR" altLang="en-US"/>
              <a:t>해 위치를 지정한 뒤 켜고</a:t>
            </a:r>
            <a:r>
              <a:rPr lang="en-US" altLang="ko-KR"/>
              <a:t>, lifeTime</a:t>
            </a:r>
            <a:r>
              <a:rPr lang="ko-KR" altLang="en-US"/>
              <a:t>이 지나면 </a:t>
            </a:r>
            <a:r>
              <a:rPr lang="en-US" altLang="ko-KR"/>
              <a:t>ReleaseFXAfter </a:t>
            </a:r>
            <a:r>
              <a:rPr lang="ko-KR" altLang="en-US"/>
              <a:t>코루틴이 꺼서 </a:t>
            </a:r>
            <a:r>
              <a:rPr lang="en-US" altLang="ko-KR"/>
              <a:t>Push</a:t>
            </a:r>
            <a:r>
              <a:rPr lang="ko-KR" altLang="en-US"/>
              <a:t>한다</a:t>
            </a:r>
            <a:r>
              <a:rPr lang="en-US" altLang="ko-KR"/>
              <a:t>. </a:t>
            </a:r>
            <a:r>
              <a:rPr lang="ko-KR" altLang="en-US"/>
              <a:t>이 방식은 로컬 오브젝트만 재사용하고 네트워크에는 알리지 않으므로</a:t>
            </a:r>
            <a:r>
              <a:rPr lang="en-US" altLang="ko-KR"/>
              <a:t>, RPC</a:t>
            </a:r>
            <a:r>
              <a:rPr lang="ko-KR" altLang="en-US"/>
              <a:t>를 받은 각 피어가 직접 재생하는 </a:t>
            </a:r>
            <a:r>
              <a:rPr lang="en-US" altLang="ko-KR"/>
              <a:t>FX</a:t>
            </a:r>
            <a:r>
              <a:rPr lang="ko-KR" altLang="en-US"/>
              <a:t>에만 사용한다</a:t>
            </a:r>
            <a:r>
              <a:rPr lang="en-US" altLang="ko-KR"/>
              <a:t>. Fusion 2</a:t>
            </a:r>
            <a:r>
              <a:rPr lang="ko-KR" altLang="en-US"/>
              <a:t>에서는 </a:t>
            </a:r>
            <a:r>
              <a:rPr lang="en-US" altLang="ko-KR"/>
              <a:t>Runner</a:t>
            </a:r>
            <a:r>
              <a:rPr lang="ko-KR" altLang="en-US"/>
              <a:t>가 </a:t>
            </a:r>
            <a:r>
              <a:rPr lang="en-US" altLang="ko-KR"/>
              <a:t>NetworkObject</a:t>
            </a:r>
            <a:r>
              <a:rPr lang="ko-KR" altLang="en-US"/>
              <a:t>의 생성</a:t>
            </a:r>
            <a:r>
              <a:rPr lang="en-US" altLang="ko-KR"/>
              <a:t>/</a:t>
            </a:r>
            <a:r>
              <a:rPr lang="ko-KR" altLang="en-US"/>
              <a:t>파괴를 관리하므로</a:t>
            </a:r>
            <a:r>
              <a:rPr lang="en-US" altLang="ko-KR"/>
              <a:t>, NetworkRunner</a:t>
            </a:r>
            <a:r>
              <a:rPr lang="ko-KR" altLang="en-US"/>
              <a:t>의 </a:t>
            </a:r>
            <a:r>
              <a:rPr lang="en-US" altLang="ko-KR"/>
              <a:t>ObjectProvider(INetworkObjectProvider)</a:t>
            </a:r>
            <a:r>
              <a:rPr lang="ko-KR" altLang="en-US"/>
              <a:t>를 </a:t>
            </a:r>
            <a:r>
              <a:rPr lang="en-US" altLang="ko-KR"/>
              <a:t>PooledNetworkObjectProvider</a:t>
            </a:r>
            <a:r>
              <a:rPr lang="ko-KR" altLang="en-US"/>
              <a:t>로 교체해 </a:t>
            </a:r>
            <a:r>
              <a:rPr lang="en-US" altLang="ko-KR"/>
              <a:t>Spawn/Despawn </a:t>
            </a:r>
            <a:r>
              <a:rPr lang="ko-KR" altLang="en-US"/>
              <a:t>경로 안에서 풀링한다</a:t>
            </a:r>
            <a:r>
              <a:rPr lang="en-US" altLang="ko-KR"/>
              <a:t>. </a:t>
            </a:r>
            <a:r>
              <a:rPr lang="ko-KR" altLang="en-US"/>
              <a:t>재사용 시 </a:t>
            </a:r>
            <a:r>
              <a:rPr lang="en-US" altLang="ko-KR"/>
              <a:t>Despawned()</a:t>
            </a:r>
            <a:r>
              <a:rPr lang="ko-KR" altLang="en-US"/>
              <a:t>에서 로컬 상태를 리셋하고</a:t>
            </a:r>
            <a:r>
              <a:rPr lang="en-US" altLang="ko-KR"/>
              <a:t>, Spawned()</a:t>
            </a:r>
            <a:r>
              <a:rPr lang="ko-KR" altLang="en-US"/>
              <a:t>에서는 컴포넌트 캐싱을 최초 </a:t>
            </a:r>
            <a:r>
              <a:rPr lang="en-US" altLang="ko-KR"/>
              <a:t>1</a:t>
            </a:r>
            <a:r>
              <a:rPr lang="ko-KR" altLang="en-US"/>
              <a:t>회만 수행한다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668EB8-8822-4C2A-8A0E-49D5A0B59C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1513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왼쪽</a:t>
            </a:r>
            <a:r>
              <a:rPr lang="en-US" altLang="ko-KR"/>
              <a:t>(</a:t>
            </a:r>
            <a:r>
              <a:rPr lang="ko-KR" altLang="en-US"/>
              <a:t>기본 풀링</a:t>
            </a:r>
            <a:r>
              <a:rPr lang="en-US" altLang="ko-KR"/>
              <a:t>): PoolManager</a:t>
            </a:r>
            <a:r>
              <a:rPr lang="ko-KR" altLang="en-US"/>
              <a:t>는 </a:t>
            </a:r>
            <a:r>
              <a:rPr lang="en-US" altLang="ko-KR"/>
              <a:t>FXState(Splash, HitParticle, Morph, Swim, DeathSplash)</a:t>
            </a:r>
            <a:r>
              <a:rPr lang="ko-KR" altLang="en-US"/>
              <a:t>마다 </a:t>
            </a:r>
            <a:r>
              <a:rPr lang="en-US" altLang="ko-KR"/>
              <a:t>Stack</a:t>
            </a:r>
            <a:r>
              <a:rPr lang="ko-KR" altLang="en-US"/>
              <a:t>을 두고</a:t>
            </a:r>
            <a:r>
              <a:rPr lang="en-US" altLang="ko-KR"/>
              <a:t>, Awake</a:t>
            </a:r>
            <a:r>
              <a:rPr lang="ko-KR" altLang="en-US"/>
              <a:t>의 </a:t>
            </a:r>
            <a:r>
              <a:rPr lang="en-US" altLang="ko-KR"/>
              <a:t>InitPool</a:t>
            </a:r>
            <a:r>
              <a:rPr lang="ko-KR" altLang="en-US"/>
              <a:t>에서 </a:t>
            </a:r>
            <a:r>
              <a:rPr lang="en-US" altLang="ko-KR"/>
              <a:t>_count</a:t>
            </a:r>
            <a:r>
              <a:rPr lang="ko-KR" altLang="en-US"/>
              <a:t>만큼 미리 만들어 비활성 상태로 </a:t>
            </a:r>
            <a:r>
              <a:rPr lang="en-US" altLang="ko-KR"/>
              <a:t>Push</a:t>
            </a:r>
            <a:r>
              <a:rPr lang="ko-KR" altLang="en-US"/>
              <a:t>해 둔다</a:t>
            </a:r>
            <a:r>
              <a:rPr lang="en-US" altLang="ko-KR"/>
              <a:t>. GetFX</a:t>
            </a:r>
            <a:r>
              <a:rPr lang="ko-KR" altLang="en-US"/>
              <a:t>는 </a:t>
            </a:r>
            <a:r>
              <a:rPr lang="en-US" altLang="ko-KR"/>
              <a:t>Stack</a:t>
            </a:r>
            <a:r>
              <a:rPr lang="ko-KR" altLang="en-US"/>
              <a:t>에서 </a:t>
            </a:r>
            <a:r>
              <a:rPr lang="en-US" altLang="ko-KR"/>
              <a:t>Pop</a:t>
            </a:r>
            <a:r>
              <a:rPr lang="ko-KR" altLang="en-US"/>
              <a:t>해 위치를 지정한 뒤 켜고</a:t>
            </a:r>
            <a:r>
              <a:rPr lang="en-US" altLang="ko-KR"/>
              <a:t>, </a:t>
            </a:r>
            <a:r>
              <a:rPr lang="ko-KR" altLang="en-US"/>
              <a:t>풀이 비면 새로 만든다</a:t>
            </a:r>
            <a:r>
              <a:rPr lang="en-US" altLang="ko-KR"/>
              <a:t>. lifeTime</a:t>
            </a:r>
            <a:r>
              <a:rPr lang="ko-KR" altLang="en-US"/>
              <a:t>이 지나면 </a:t>
            </a:r>
            <a:r>
              <a:rPr lang="en-US" altLang="ko-KR"/>
              <a:t>ReleaseFXAfter </a:t>
            </a:r>
            <a:r>
              <a:rPr lang="ko-KR" altLang="en-US"/>
              <a:t>코루틴이 꺼서 다시 </a:t>
            </a:r>
            <a:r>
              <a:rPr lang="en-US" altLang="ko-KR"/>
              <a:t>Push</a:t>
            </a:r>
            <a:r>
              <a:rPr lang="ko-KR" altLang="en-US"/>
              <a:t>한다</a:t>
            </a:r>
            <a:r>
              <a:rPr lang="en-US" altLang="ko-KR"/>
              <a:t>. </a:t>
            </a:r>
            <a:r>
              <a:rPr lang="ko-KR" altLang="en-US"/>
              <a:t>이 </a:t>
            </a:r>
            <a:r>
              <a:rPr lang="en-US" altLang="ko-KR"/>
              <a:t>FX</a:t>
            </a:r>
            <a:r>
              <a:rPr lang="ko-KR" altLang="en-US"/>
              <a:t>들은 </a:t>
            </a:r>
            <a:r>
              <a:rPr lang="en-US" altLang="ko-KR"/>
              <a:t>RPC</a:t>
            </a:r>
            <a:r>
              <a:rPr lang="ko-KR" altLang="en-US"/>
              <a:t>를 받은 각 피어가 로컬로 재생하므로 네트워크 동기화가 필요 없다</a:t>
            </a:r>
            <a:r>
              <a:rPr lang="en-US" altLang="ko-KR"/>
              <a:t>. </a:t>
            </a:r>
            <a:r>
              <a:rPr lang="ko-KR" altLang="en-US"/>
              <a:t>오른쪽</a:t>
            </a:r>
            <a:r>
              <a:rPr lang="en-US" altLang="ko-KR"/>
              <a:t>(</a:t>
            </a:r>
            <a:r>
              <a:rPr lang="ko-KR" altLang="en-US"/>
              <a:t>네트워크 풀링</a:t>
            </a:r>
            <a:r>
              <a:rPr lang="en-US" altLang="ko-KR"/>
              <a:t>): </a:t>
            </a:r>
            <a:r>
              <a:rPr lang="ko-KR" altLang="en-US"/>
              <a:t>탄 같은 </a:t>
            </a:r>
            <a:r>
              <a:rPr lang="en-US" altLang="ko-KR"/>
              <a:t>NetworkObject</a:t>
            </a:r>
            <a:r>
              <a:rPr lang="ko-KR" altLang="en-US"/>
              <a:t>는 </a:t>
            </a:r>
            <a:r>
              <a:rPr lang="en-US" altLang="ko-KR"/>
              <a:t>Runner</a:t>
            </a:r>
            <a:r>
              <a:rPr lang="ko-KR" altLang="en-US"/>
              <a:t>가 생성</a:t>
            </a:r>
            <a:r>
              <a:rPr lang="en-US" altLang="ko-KR"/>
              <a:t>/</a:t>
            </a:r>
            <a:r>
              <a:rPr lang="ko-KR" altLang="en-US"/>
              <a:t>파괴를 관리하므로</a:t>
            </a:r>
            <a:r>
              <a:rPr lang="en-US" altLang="ko-KR"/>
              <a:t>, NetworkObjectProviderDefault</a:t>
            </a:r>
            <a:r>
              <a:rPr lang="ko-KR" altLang="en-US"/>
              <a:t>를 상속해 </a:t>
            </a:r>
            <a:r>
              <a:rPr lang="en-US" altLang="ko-KR"/>
              <a:t>InstantiatePrefab</a:t>
            </a:r>
            <a:r>
              <a:rPr lang="ko-KR" altLang="en-US"/>
              <a:t>에서 </a:t>
            </a:r>
            <a:r>
              <a:rPr lang="en-US" altLang="ko-KR"/>
              <a:t>Pop, DestroyPrefabInstance</a:t>
            </a:r>
            <a:r>
              <a:rPr lang="ko-KR" altLang="en-US"/>
              <a:t>에서 </a:t>
            </a:r>
            <a:r>
              <a:rPr lang="en-US" altLang="ko-KR"/>
              <a:t>Push</a:t>
            </a:r>
            <a:r>
              <a:rPr lang="ko-KR" altLang="en-US"/>
              <a:t>한다</a:t>
            </a:r>
            <a:r>
              <a:rPr lang="en-US" altLang="ko-KR"/>
              <a:t>. NetworkRunnerHandler</a:t>
            </a:r>
            <a:r>
              <a:rPr lang="ko-KR" altLang="en-US"/>
              <a:t>가 </a:t>
            </a:r>
            <a:r>
              <a:rPr lang="en-US" altLang="ko-KR"/>
              <a:t>StartGameArgs.ObjectProvider</a:t>
            </a:r>
            <a:r>
              <a:rPr lang="ko-KR" altLang="en-US"/>
              <a:t>로 이 </a:t>
            </a:r>
            <a:r>
              <a:rPr lang="en-US" altLang="ko-KR"/>
              <a:t>Provider</a:t>
            </a:r>
            <a:r>
              <a:rPr lang="ko-KR" altLang="en-US"/>
              <a:t>를 넘기면 </a:t>
            </a:r>
            <a:r>
              <a:rPr lang="en-US" altLang="ko-KR"/>
              <a:t>Host</a:t>
            </a:r>
            <a:r>
              <a:rPr lang="ko-KR" altLang="en-US"/>
              <a:t>와 </a:t>
            </a:r>
            <a:r>
              <a:rPr lang="en-US" altLang="ko-KR"/>
              <a:t>Client </a:t>
            </a:r>
            <a:r>
              <a:rPr lang="ko-KR" altLang="en-US"/>
              <a:t>모두의 </a:t>
            </a:r>
            <a:r>
              <a:rPr lang="en-US" altLang="ko-KR"/>
              <a:t>Runner</a:t>
            </a:r>
            <a:r>
              <a:rPr lang="ko-KR" altLang="en-US"/>
              <a:t>가 이 경로를 쓴다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668EB8-8822-4C2A-8A0E-49D5A0B59CA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0137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투사체 위치를 매 틱 동기화하지 않고</a:t>
            </a:r>
            <a:r>
              <a:rPr lang="en-US" altLang="ko-KR"/>
              <a:t>, </a:t>
            </a:r>
            <a:r>
              <a:rPr lang="ko-KR" altLang="en-US"/>
              <a:t>발사 순간의 </a:t>
            </a:r>
            <a:r>
              <a:rPr lang="en-US" altLang="ko-KR"/>
              <a:t>Position·Velocity·FireTick</a:t>
            </a:r>
            <a:r>
              <a:rPr lang="ko-KR" altLang="en-US"/>
              <a:t>만 </a:t>
            </a:r>
            <a:r>
              <a:rPr lang="en-US" altLang="ko-KR"/>
              <a:t>[Networked] InkProjectileData</a:t>
            </a:r>
            <a:r>
              <a:rPr lang="ko-KR" altLang="en-US"/>
              <a:t>에 기록한다</a:t>
            </a:r>
            <a:r>
              <a:rPr lang="en-US" altLang="ko-KR"/>
              <a:t>. </a:t>
            </a:r>
            <a:r>
              <a:rPr lang="ko-KR" altLang="en-US"/>
              <a:t>각 피어는 </a:t>
            </a:r>
            <a:r>
              <a:rPr lang="en-US" altLang="ko-KR"/>
              <a:t>GetMovePosition(tick)</a:t>
            </a:r>
            <a:r>
              <a:rPr lang="ko-KR" altLang="en-US"/>
              <a:t>으로 </a:t>
            </a:r>
            <a:r>
              <a:rPr lang="en-US" altLang="ko-KR"/>
              <a:t>(tick - FireTick) * DeltaTime </a:t>
            </a:r>
            <a:r>
              <a:rPr lang="ko-KR" altLang="en-US"/>
              <a:t>경과 시간을 구해 직선 구간 </a:t>
            </a:r>
            <a:r>
              <a:rPr lang="en-US" altLang="ko-KR"/>
              <a:t>+ </a:t>
            </a:r>
            <a:r>
              <a:rPr lang="ko-KR" altLang="en-US"/>
              <a:t>중력 포물선 궤적을 직접 계산하므로 같은 위치를 얻는다</a:t>
            </a:r>
            <a:r>
              <a:rPr lang="en-US" altLang="ko-KR"/>
              <a:t>. </a:t>
            </a:r>
            <a:r>
              <a:rPr lang="ko-KR" altLang="en-US"/>
              <a:t>충돌은 </a:t>
            </a:r>
            <a:r>
              <a:rPr lang="en-US" altLang="ko-KR"/>
              <a:t>State Authority(Host)</a:t>
            </a:r>
            <a:r>
              <a:rPr lang="ko-KR" altLang="en-US"/>
              <a:t>만 </a:t>
            </a:r>
            <a:r>
              <a:rPr lang="en-US" altLang="ko-KR"/>
              <a:t>FixedUpdateNetwork</a:t>
            </a:r>
            <a:r>
              <a:rPr lang="ko-KR" altLang="en-US"/>
              <a:t>에서 </a:t>
            </a:r>
            <a:r>
              <a:rPr lang="en-US" altLang="ko-KR"/>
              <a:t>Tick-1 </a:t>
            </a:r>
            <a:r>
              <a:rPr lang="ko-KR" altLang="en-US"/>
              <a:t>위치부터 </a:t>
            </a:r>
            <a:r>
              <a:rPr lang="en-US" altLang="ko-KR"/>
              <a:t>Tick </a:t>
            </a:r>
            <a:r>
              <a:rPr lang="ko-KR" altLang="en-US"/>
              <a:t>위치까지 </a:t>
            </a:r>
            <a:r>
              <a:rPr lang="en-US" altLang="ko-KR"/>
              <a:t>LagCompensation.Raycast</a:t>
            </a:r>
            <a:r>
              <a:rPr lang="ko-KR" altLang="en-US"/>
              <a:t>로 판정한다</a:t>
            </a:r>
            <a:r>
              <a:rPr lang="en-US" altLang="ko-KR"/>
              <a:t>. </a:t>
            </a:r>
            <a:r>
              <a:rPr lang="ko-KR" altLang="en-US"/>
              <a:t>탄착 시 </a:t>
            </a:r>
            <a:r>
              <a:rPr lang="en-US" altLang="ko-KR"/>
              <a:t>IsFinished</a:t>
            </a:r>
            <a:r>
              <a:rPr lang="ko-KR" altLang="en-US"/>
              <a:t>와 </a:t>
            </a:r>
            <a:r>
              <a:rPr lang="en-US" altLang="ko-KR"/>
              <a:t>ImpactPosition/Normal/PaintRadius</a:t>
            </a:r>
            <a:r>
              <a:rPr lang="ko-KR" altLang="en-US"/>
              <a:t>를 기록하고 </a:t>
            </a:r>
            <a:r>
              <a:rPr lang="en-US" altLang="ko-KR"/>
              <a:t>RPC_OnHit</a:t>
            </a:r>
            <a:r>
              <a:rPr lang="ko-KR" altLang="en-US"/>
              <a:t>로 모든 피어에 페인트</a:t>
            </a:r>
            <a:r>
              <a:rPr lang="en-US" altLang="ko-KR"/>
              <a:t>·FX</a:t>
            </a:r>
            <a:r>
              <a:rPr lang="ko-KR" altLang="en-US"/>
              <a:t>를 알린다</a:t>
            </a:r>
            <a:r>
              <a:rPr lang="en-US" altLang="ko-KR"/>
              <a:t>. RPC</a:t>
            </a:r>
            <a:r>
              <a:rPr lang="ko-KR" altLang="en-US"/>
              <a:t>가 도착할 시간을 벌기 위해 </a:t>
            </a:r>
            <a:r>
              <a:rPr lang="en-US" altLang="ko-KR"/>
              <a:t>TickTimer</a:t>
            </a:r>
            <a:r>
              <a:rPr lang="ko-KR" altLang="en-US"/>
              <a:t>로 </a:t>
            </a:r>
            <a:r>
              <a:rPr lang="en-US" altLang="ko-KR"/>
              <a:t>0.3</a:t>
            </a:r>
            <a:r>
              <a:rPr lang="ko-KR" altLang="en-US"/>
              <a:t>초 뒤에 </a:t>
            </a:r>
            <a:r>
              <a:rPr lang="en-US" altLang="ko-KR"/>
              <a:t>Despawn</a:t>
            </a:r>
            <a:r>
              <a:rPr lang="ko-KR" altLang="en-US"/>
              <a:t>하며</a:t>
            </a:r>
            <a:r>
              <a:rPr lang="en-US" altLang="ko-KR"/>
              <a:t>, </a:t>
            </a:r>
            <a:r>
              <a:rPr lang="ko-KR" altLang="en-US"/>
              <a:t>클라이언트는 </a:t>
            </a:r>
            <a:r>
              <a:rPr lang="en-US" altLang="ko-KR"/>
              <a:t>Render()</a:t>
            </a:r>
            <a:r>
              <a:rPr lang="ko-KR" altLang="en-US"/>
              <a:t>에서 </a:t>
            </a:r>
            <a:r>
              <a:rPr lang="en-US" altLang="ko-KR"/>
              <a:t>LocalRenderTime </a:t>
            </a:r>
            <a:r>
              <a:rPr lang="ko-KR" altLang="en-US"/>
              <a:t>기준으로 부드럽게 보간하고 </a:t>
            </a:r>
            <a:r>
              <a:rPr lang="en-US" altLang="ko-KR"/>
              <a:t>IsFinished</a:t>
            </a:r>
            <a:r>
              <a:rPr lang="ko-KR" altLang="en-US"/>
              <a:t>가 되면 비주얼을 숨긴다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668EB8-8822-4C2A-8A0E-49D5A0B59CA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7869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왼쪽</a:t>
            </a:r>
            <a:r>
              <a:rPr lang="en-US" altLang="ko-KR"/>
              <a:t>: Initialize()</a:t>
            </a:r>
            <a:r>
              <a:rPr lang="ko-KR" altLang="en-US"/>
              <a:t>에서 </a:t>
            </a:r>
            <a:r>
              <a:rPr lang="en-US" altLang="ko-KR"/>
              <a:t>Position, Velocity, FireTick</a:t>
            </a:r>
            <a:r>
              <a:rPr lang="ko-KR" altLang="en-US"/>
              <a:t>만 </a:t>
            </a:r>
            <a:r>
              <a:rPr lang="en-US" altLang="ko-KR"/>
              <a:t>[Networked] InkProjectileData</a:t>
            </a:r>
            <a:r>
              <a:rPr lang="ko-KR" altLang="en-US"/>
              <a:t>에 기록한다</a:t>
            </a:r>
            <a:r>
              <a:rPr lang="en-US" altLang="ko-KR"/>
              <a:t>. GetMovePosition(tick)</a:t>
            </a:r>
            <a:r>
              <a:rPr lang="ko-KR" altLang="en-US"/>
              <a:t>은 </a:t>
            </a:r>
            <a:r>
              <a:rPr lang="en-US" altLang="ko-KR"/>
              <a:t>(tick - FireTick) * DeltaTime</a:t>
            </a:r>
            <a:r>
              <a:rPr lang="ko-KR" altLang="en-US"/>
              <a:t>으로 경과 시간을 구해 직선 구간과 중력 포물선 구간을 계산하므로</a:t>
            </a:r>
            <a:r>
              <a:rPr lang="en-US" altLang="ko-KR"/>
              <a:t>, </a:t>
            </a:r>
            <a:r>
              <a:rPr lang="ko-KR" altLang="en-US"/>
              <a:t>같은 값을 가진 모든 피어가 같은 위치를 얻는다</a:t>
            </a:r>
            <a:r>
              <a:rPr lang="en-US" altLang="ko-KR"/>
              <a:t>. </a:t>
            </a:r>
            <a:r>
              <a:rPr lang="ko-KR" altLang="en-US"/>
              <a:t>오른쪽</a:t>
            </a:r>
            <a:r>
              <a:rPr lang="en-US" altLang="ko-KR"/>
              <a:t>: FixedUpdateNetwork</a:t>
            </a:r>
            <a:r>
              <a:rPr lang="ko-KR" altLang="en-US"/>
              <a:t>는 </a:t>
            </a:r>
            <a:r>
              <a:rPr lang="en-US" altLang="ko-KR"/>
              <a:t>State Authority(Host)</a:t>
            </a:r>
            <a:r>
              <a:rPr lang="ko-KR" altLang="en-US"/>
              <a:t>에서만 판정하며</a:t>
            </a:r>
            <a:r>
              <a:rPr lang="en-US" altLang="ko-KR"/>
              <a:t>, Tick-1 </a:t>
            </a:r>
            <a:r>
              <a:rPr lang="ko-KR" altLang="en-US"/>
              <a:t>위치에서 </a:t>
            </a:r>
            <a:r>
              <a:rPr lang="en-US" altLang="ko-KR"/>
              <a:t>Tick </a:t>
            </a:r>
            <a:r>
              <a:rPr lang="ko-KR" altLang="en-US"/>
              <a:t>위치까지 </a:t>
            </a:r>
            <a:r>
              <a:rPr lang="en-US" altLang="ko-KR"/>
              <a:t>LagCompensation.Raycast</a:t>
            </a:r>
            <a:r>
              <a:rPr lang="ko-KR" altLang="en-US"/>
              <a:t>로 검사해 빠른 탄도 놓치지 않는다</a:t>
            </a:r>
            <a:r>
              <a:rPr lang="en-US" altLang="ko-KR"/>
              <a:t>. </a:t>
            </a:r>
            <a:r>
              <a:rPr lang="ko-KR" altLang="en-US"/>
              <a:t>맞으면 </a:t>
            </a:r>
            <a:r>
              <a:rPr lang="en-US" altLang="ko-KR"/>
              <a:t>OnHit</a:t>
            </a:r>
            <a:r>
              <a:rPr lang="ko-KR" altLang="en-US"/>
              <a:t>에서 </a:t>
            </a:r>
            <a:r>
              <a:rPr lang="en-US" altLang="ko-KR"/>
              <a:t>Finish()</a:t>
            </a:r>
            <a:r>
              <a:rPr lang="ko-KR" altLang="en-US"/>
              <a:t>로 </a:t>
            </a:r>
            <a:r>
              <a:rPr lang="en-US" altLang="ko-KR"/>
              <a:t>IsFinished</a:t>
            </a:r>
            <a:r>
              <a:rPr lang="ko-KR" altLang="en-US"/>
              <a:t>를 기록하고 </a:t>
            </a:r>
            <a:r>
              <a:rPr lang="en-US" altLang="ko-KR"/>
              <a:t>RPC_OnHit</a:t>
            </a:r>
            <a:r>
              <a:rPr lang="ko-KR" altLang="en-US"/>
              <a:t>로 모든 피어에 페인트를 알린 뒤</a:t>
            </a:r>
            <a:r>
              <a:rPr lang="en-US" altLang="ko-KR"/>
              <a:t>, TickTimer</a:t>
            </a:r>
            <a:r>
              <a:rPr lang="ko-KR" altLang="en-US"/>
              <a:t>로 </a:t>
            </a:r>
            <a:r>
              <a:rPr lang="en-US" altLang="ko-KR"/>
              <a:t>0.3</a:t>
            </a:r>
            <a:r>
              <a:rPr lang="ko-KR" altLang="en-US"/>
              <a:t>초 뒤에 </a:t>
            </a:r>
            <a:r>
              <a:rPr lang="en-US" altLang="ko-KR"/>
              <a:t>Despawn</a:t>
            </a:r>
            <a:r>
              <a:rPr lang="ko-KR" altLang="en-US"/>
              <a:t>해서 </a:t>
            </a:r>
            <a:r>
              <a:rPr lang="en-US" altLang="ko-KR"/>
              <a:t>RPC</a:t>
            </a:r>
            <a:r>
              <a:rPr lang="ko-KR" altLang="en-US"/>
              <a:t>가 먼저 도착하게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668EB8-8822-4C2A-8A0E-49D5A0B59CA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83411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커스터마이징 화면에서 </a:t>
            </a:r>
            <a:r>
              <a:rPr lang="en-US" altLang="ko-KR"/>
              <a:t>ItemSlotUI.SetItem()</a:t>
            </a:r>
            <a:r>
              <a:rPr lang="ko-KR" altLang="en-US"/>
              <a:t>으로 슬롯을 고르면 </a:t>
            </a:r>
            <a:r>
              <a:rPr lang="en-US" altLang="ko-KR"/>
              <a:t>PlayerCustomizeManager</a:t>
            </a:r>
            <a:r>
              <a:rPr lang="ko-KR" altLang="en-US"/>
              <a:t>의 </a:t>
            </a:r>
            <a:r>
              <a:rPr lang="en-US" altLang="ko-KR"/>
              <a:t>PlayerCustomization(</a:t>
            </a:r>
            <a:r>
              <a:rPr lang="ko-KR" altLang="en-US"/>
              <a:t>부위별 </a:t>
            </a:r>
            <a:r>
              <a:rPr lang="en-US" altLang="ko-KR"/>
              <a:t>enum </a:t>
            </a:r>
            <a:r>
              <a:rPr lang="ko-KR" altLang="en-US"/>
              <a:t>구조체</a:t>
            </a:r>
            <a:r>
              <a:rPr lang="en-US" altLang="ko-KR"/>
              <a:t>)</a:t>
            </a:r>
            <a:r>
              <a:rPr lang="ko-KR" altLang="en-US"/>
              <a:t>이 갱신되고</a:t>
            </a:r>
            <a:r>
              <a:rPr lang="en-US" altLang="ko-KR"/>
              <a:t>, CharacterClothChanger.SetCustomization()</a:t>
            </a:r>
            <a:r>
              <a:rPr lang="ko-KR" altLang="en-US"/>
              <a:t>이 기존 장착물을 모두 </a:t>
            </a:r>
            <a:r>
              <a:rPr lang="en-US" altLang="ko-KR"/>
              <a:t>Destroy</a:t>
            </a:r>
            <a:r>
              <a:rPr lang="ko-KR" altLang="en-US"/>
              <a:t>한 뒤 </a:t>
            </a:r>
            <a:r>
              <a:rPr lang="en-US" altLang="ko-KR"/>
              <a:t>Resources/Object/Customizing/{</a:t>
            </a:r>
            <a:r>
              <a:rPr lang="ko-KR" altLang="en-US"/>
              <a:t>부위</a:t>
            </a:r>
            <a:r>
              <a:rPr lang="en-US" altLang="ko-KR"/>
              <a:t>}/{</a:t>
            </a:r>
            <a:r>
              <a:rPr lang="ko-KR" altLang="en-US"/>
              <a:t>이름</a:t>
            </a:r>
            <a:r>
              <a:rPr lang="en-US" altLang="ko-KR"/>
              <a:t>} </a:t>
            </a:r>
            <a:r>
              <a:rPr lang="ko-KR" altLang="en-US"/>
              <a:t>프리팹을 다시 장착한다</a:t>
            </a:r>
            <a:r>
              <a:rPr lang="en-US" altLang="ko-KR"/>
              <a:t>. </a:t>
            </a:r>
            <a:r>
              <a:rPr lang="ko-KR" altLang="en-US"/>
              <a:t>머리카락과 모자는 </a:t>
            </a:r>
            <a:r>
              <a:rPr lang="en-US" altLang="ko-KR"/>
              <a:t>Head </a:t>
            </a:r>
            <a:r>
              <a:rPr lang="ko-KR" altLang="en-US"/>
              <a:t>본의 자식으로 붙이고</a:t>
            </a:r>
            <a:r>
              <a:rPr lang="en-US" altLang="ko-KR"/>
              <a:t>, </a:t>
            </a:r>
            <a:r>
              <a:rPr lang="ko-KR" altLang="en-US"/>
              <a:t>옷</a:t>
            </a:r>
            <a:r>
              <a:rPr lang="en-US" altLang="ko-KR"/>
              <a:t>·</a:t>
            </a:r>
            <a:r>
              <a:rPr lang="ko-KR" altLang="en-US"/>
              <a:t>신발</a:t>
            </a:r>
            <a:r>
              <a:rPr lang="en-US" altLang="ko-KR"/>
              <a:t>·</a:t>
            </a:r>
            <a:r>
              <a:rPr lang="ko-KR" altLang="en-US"/>
              <a:t>하의는 </a:t>
            </a:r>
            <a:r>
              <a:rPr lang="en-US" altLang="ko-KR"/>
              <a:t>SkinnedMeshRenderer</a:t>
            </a:r>
            <a:r>
              <a:rPr lang="ko-KR" altLang="en-US"/>
              <a:t>의 </a:t>
            </a:r>
            <a:r>
              <a:rPr lang="en-US" altLang="ko-KR"/>
              <a:t>bones</a:t>
            </a:r>
            <a:r>
              <a:rPr lang="ko-KR" altLang="en-US"/>
              <a:t>와 </a:t>
            </a:r>
            <a:r>
              <a:rPr lang="en-US" altLang="ko-KR"/>
              <a:t>rootBone</a:t>
            </a:r>
            <a:r>
              <a:rPr lang="ko-KR" altLang="en-US"/>
              <a:t>을 같은 이름의 캐릭터 본으로 교체하는 본 리매핑을 거친다</a:t>
            </a:r>
            <a:r>
              <a:rPr lang="en-US" altLang="ko-KR"/>
              <a:t>. </a:t>
            </a:r>
            <a:r>
              <a:rPr lang="ko-KR" altLang="en-US"/>
              <a:t>그러면 옷이 캐릭터의 </a:t>
            </a:r>
            <a:r>
              <a:rPr lang="en-US" altLang="ko-KR"/>
              <a:t>Animator</a:t>
            </a:r>
            <a:r>
              <a:rPr lang="ko-KR" altLang="en-US"/>
              <a:t>가 움직이는 뼈대를 그대로 따라가므로 옷마다 애니메이션을 따로 둘 필요가 없고</a:t>
            </a:r>
            <a:r>
              <a:rPr lang="en-US" altLang="ko-KR"/>
              <a:t>, </a:t>
            </a:r>
            <a:r>
              <a:rPr lang="ko-KR" altLang="en-US"/>
              <a:t>옷 프리팹에 딸려온 </a:t>
            </a:r>
            <a:r>
              <a:rPr lang="en-US" altLang="ko-KR"/>
              <a:t>Armature</a:t>
            </a:r>
            <a:r>
              <a:rPr lang="ko-KR" altLang="en-US"/>
              <a:t>는 삭제한다</a:t>
            </a:r>
            <a:r>
              <a:rPr lang="en-US" altLang="ko-KR"/>
              <a:t>. </a:t>
            </a:r>
            <a:r>
              <a:rPr lang="ko-KR" altLang="en-US"/>
              <a:t>인게임에서는 로컬 플레이어가 </a:t>
            </a:r>
            <a:r>
              <a:rPr lang="en-US" altLang="ko-KR"/>
              <a:t>RPC_SubmitCustomization</a:t>
            </a:r>
            <a:r>
              <a:rPr lang="ko-KR" altLang="en-US"/>
              <a:t>으로 </a:t>
            </a:r>
            <a:r>
              <a:rPr lang="en-US" altLang="ko-KR"/>
              <a:t>Host</a:t>
            </a:r>
            <a:r>
              <a:rPr lang="ko-KR" altLang="en-US"/>
              <a:t>에 값을 보내고</a:t>
            </a:r>
            <a:r>
              <a:rPr lang="en-US" altLang="ko-KR"/>
              <a:t>, [Networked, OnChangedRender] PlayerCustomization</a:t>
            </a:r>
            <a:r>
              <a:rPr lang="ko-KR" altLang="en-US"/>
              <a:t>이 모든 피어로 복제되어 각자 </a:t>
            </a:r>
            <a:r>
              <a:rPr lang="en-US" altLang="ko-KR"/>
              <a:t>SetCustomization</a:t>
            </a:r>
            <a:r>
              <a:rPr lang="ko-KR" altLang="en-US"/>
              <a:t>으로 같은 옷을 입힌다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668EB8-8822-4C2A-8A0E-49D5A0B59CA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12002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왼쪽</a:t>
            </a:r>
            <a:r>
              <a:rPr lang="en-US" altLang="ko-KR"/>
              <a:t>: SetCustomization</a:t>
            </a:r>
            <a:r>
              <a:rPr lang="ko-KR" altLang="en-US"/>
              <a:t>은 부위별 </a:t>
            </a:r>
            <a:r>
              <a:rPr lang="en-US" altLang="ko-KR"/>
              <a:t>enum </a:t>
            </a:r>
            <a:r>
              <a:rPr lang="ko-KR" altLang="en-US"/>
              <a:t>값을 </a:t>
            </a:r>
            <a:r>
              <a:rPr lang="en-US" altLang="ko-KR"/>
              <a:t>Dictionary</a:t>
            </a:r>
            <a:r>
              <a:rPr lang="ko-KR" altLang="en-US"/>
              <a:t>로 만든 뒤</a:t>
            </a:r>
            <a:r>
              <a:rPr lang="en-US" altLang="ko-KR"/>
              <a:t>, </a:t>
            </a:r>
            <a:r>
              <a:rPr lang="ko-KR" altLang="en-US"/>
              <a:t>이전에 장착한 오브젝트를 모두 </a:t>
            </a:r>
            <a:r>
              <a:rPr lang="en-US" altLang="ko-KR"/>
              <a:t>Destroy</a:t>
            </a:r>
            <a:r>
              <a:rPr lang="ko-KR" altLang="en-US"/>
              <a:t>하고 부위마다 </a:t>
            </a:r>
            <a:r>
              <a:rPr lang="en-US" altLang="ko-KR"/>
              <a:t>Equip</a:t>
            </a:r>
            <a:r>
              <a:rPr lang="ko-KR" altLang="en-US"/>
              <a:t>으로 </a:t>
            </a:r>
            <a:r>
              <a:rPr lang="en-US" altLang="ko-KR"/>
              <a:t>Resources/Object/Customizing/{</a:t>
            </a:r>
            <a:r>
              <a:rPr lang="ko-KR" altLang="en-US"/>
              <a:t>부위</a:t>
            </a:r>
            <a:r>
              <a:rPr lang="en-US" altLang="ko-KR"/>
              <a:t>}/{</a:t>
            </a:r>
            <a:r>
              <a:rPr lang="ko-KR" altLang="en-US"/>
              <a:t>이름</a:t>
            </a:r>
            <a:r>
              <a:rPr lang="en-US" altLang="ko-KR"/>
              <a:t>} </a:t>
            </a:r>
            <a:r>
              <a:rPr lang="ko-KR" altLang="en-US"/>
              <a:t>프리팹을 다시 장착한다</a:t>
            </a:r>
            <a:r>
              <a:rPr lang="en-US" altLang="ko-KR"/>
              <a:t>. </a:t>
            </a:r>
            <a:r>
              <a:rPr lang="ko-KR" altLang="en-US"/>
              <a:t>신발은 오른쪽</a:t>
            </a:r>
            <a:r>
              <a:rPr lang="en-US" altLang="ko-KR"/>
              <a:t>(_R) </a:t>
            </a:r>
            <a:r>
              <a:rPr lang="ko-KR" altLang="en-US"/>
              <a:t>프리팹을 하나 더 장착한다</a:t>
            </a:r>
            <a:r>
              <a:rPr lang="en-US" altLang="ko-KR"/>
              <a:t>. </a:t>
            </a:r>
            <a:r>
              <a:rPr lang="ko-KR" altLang="en-US"/>
              <a:t>인게임에서는 </a:t>
            </a:r>
            <a:r>
              <a:rPr lang="en-US" altLang="ko-KR"/>
              <a:t>[Networked, OnChangedRender] PlayerCustomization</a:t>
            </a:r>
            <a:r>
              <a:rPr lang="ko-KR" altLang="en-US"/>
              <a:t>이 복제될 때 </a:t>
            </a:r>
            <a:r>
              <a:rPr lang="en-US" altLang="ko-KR"/>
              <a:t>OnCustomizationChanged</a:t>
            </a:r>
            <a:r>
              <a:rPr lang="ko-KR" altLang="en-US"/>
              <a:t>가 불려 다른 피어의 캐릭터에도 같은 옷을 입힌다</a:t>
            </a:r>
            <a:r>
              <a:rPr lang="en-US" altLang="ko-KR"/>
              <a:t>. </a:t>
            </a:r>
            <a:r>
              <a:rPr lang="ko-KR" altLang="en-US"/>
              <a:t>오른쪽</a:t>
            </a:r>
            <a:r>
              <a:rPr lang="en-US" altLang="ko-KR"/>
              <a:t>: SetClothes</a:t>
            </a:r>
            <a:r>
              <a:rPr lang="ko-KR" altLang="en-US"/>
              <a:t>는 캐릭터 본을 이름으로 찾는 </a:t>
            </a:r>
            <a:r>
              <a:rPr lang="en-US" altLang="ko-KR"/>
              <a:t>boneMap</a:t>
            </a:r>
            <a:r>
              <a:rPr lang="ko-KR" altLang="en-US"/>
              <a:t>을 만들고</a:t>
            </a:r>
            <a:r>
              <a:rPr lang="en-US" altLang="ko-KR"/>
              <a:t>, </a:t>
            </a:r>
            <a:r>
              <a:rPr lang="ko-KR" altLang="en-US"/>
              <a:t>옷 </a:t>
            </a:r>
            <a:r>
              <a:rPr lang="en-US" altLang="ko-KR"/>
              <a:t>SkinnedMeshRenderer</a:t>
            </a:r>
            <a:r>
              <a:rPr lang="ko-KR" altLang="en-US"/>
              <a:t>의 </a:t>
            </a:r>
            <a:r>
              <a:rPr lang="en-US" altLang="ko-KR"/>
              <a:t>bones</a:t>
            </a:r>
            <a:r>
              <a:rPr lang="ko-KR" altLang="en-US"/>
              <a:t>를 같은 이름의 캐릭터 본으로 교체한다</a:t>
            </a:r>
            <a:r>
              <a:rPr lang="en-US" altLang="ko-KR"/>
              <a:t>. rootBone</a:t>
            </a:r>
            <a:r>
              <a:rPr lang="ko-KR" altLang="en-US"/>
              <a:t>도 교체한 뒤 옷 프리팹에 딸려온 </a:t>
            </a:r>
            <a:r>
              <a:rPr lang="en-US" altLang="ko-KR"/>
              <a:t>Armature</a:t>
            </a:r>
            <a:r>
              <a:rPr lang="ko-KR" altLang="en-US"/>
              <a:t>는 삭제한다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668EB8-8822-4C2A-8A0E-49D5A0B59CA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0477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6C3311-0013-BA1D-D6DF-4D0617D80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83B95B4-0C2E-0EE3-EA19-C2CD86449B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7645B6-55E0-9D8E-1369-60A44BFAF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DBBC8-606E-4382-B665-9FAAC25AC137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CA1674-6E35-A683-F5AE-2A4BC2C82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1009C9-2284-8006-2365-1AE4AA379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0D77F-4864-4BFA-AB5E-3D4D68C087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9232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BC1026-AEFB-0DA2-9B3F-75F7426FE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E46590-5B0F-9DFE-2A47-63DE7C612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C5D0D3-309A-5788-AF25-EFD4F993D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DBBC8-606E-4382-B665-9FAAC25AC137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A86A26-9500-99FA-053E-5963E06FB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2CCB2C-92B7-5C51-B6E9-610CB913E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0D77F-4864-4BFA-AB5E-3D4D68C087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9470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D77724-92D7-BEC8-7092-EAEC5770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43D2FB-F660-3FDE-EC0F-B310948BE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4C798C-A176-714C-ACD0-D41C39BC3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DBBC8-606E-4382-B665-9FAAC25AC137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562453-4CA5-EEF4-4B19-8996648C6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CA8C2D-A3F3-9BF9-80AC-0366BBBFC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0D77F-4864-4BFA-AB5E-3D4D68C087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982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0F5A1-FC73-1EE2-9D63-B8CF89D3F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831D0C-CFA2-AE70-01EF-9EE0A574A9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4AD08C7-F444-1070-4818-97CEADA15D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2A6756-6F5B-F365-CFAC-389D06932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DBBC8-606E-4382-B665-9FAAC25AC137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61D4EE-EB27-521E-149A-2CC777BA8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18D765-453E-8757-F3D0-01FDF5A36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0D77F-4864-4BFA-AB5E-3D4D68C087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1363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1D4AB-ACB2-8D1D-29D3-434F9E486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92E74-7AC3-BB42-ED12-3612F0ECC7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E10FA4-3A9F-FCA0-7730-1ECB20F64F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E73F3D5-9AAC-812A-5BD1-B8BDC81991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88641A8-0038-5071-3FDE-12A7C9438C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2FCC2BB-D662-56B4-F61A-ADAF41842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DBBC8-606E-4382-B665-9FAAC25AC137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46A6F5C-23CE-E60B-DEE7-56CDAE206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9EDDCC7-7BF3-43E0-A88E-699E05DB9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0D77F-4864-4BFA-AB5E-3D4D68C087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658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85B81D-7F51-DDB1-2F08-9401B2651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1A0D24A-60A3-27E5-0C38-EA61E9963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DBBC8-606E-4382-B665-9FAAC25AC137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13A6EDE-786E-AAF4-3319-46FBB64AA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690A961-9385-BF86-D8D7-5076B62E8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0D77F-4864-4BFA-AB5E-3D4D68C087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3866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EC3FCF0-79DB-1124-E29E-87C274558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DBBC8-606E-4382-B665-9FAAC25AC137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41AABD6-39B1-B2D7-D0D8-DF8B7162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A42A1D-115D-D0C4-AE42-70124F9B5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0D77F-4864-4BFA-AB5E-3D4D68C087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0547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A50030-5024-2C18-0064-2F1262728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280D12-BFAD-476D-3BDB-37134D9C4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3002DF-44C9-FD49-B1E6-722F42CD03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21A569-E47D-1182-7B52-8DC97202D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DBBC8-606E-4382-B665-9FAAC25AC137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FFF6AD-1768-6067-46AB-1F1815D09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714493E-E093-5001-5EE2-A02DFA4C0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0D77F-4864-4BFA-AB5E-3D4D68C087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8607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04926F-B0CD-2F46-57E0-8150A170B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D95080C-CA82-FEAD-061D-9B2FF263E18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B46BBFA-B79A-F6ED-842F-581F344A79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FF71BF-2B2B-24D7-4703-5FA940F9B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DBBC8-606E-4382-B665-9FAAC25AC137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E705EA-01AB-AC7E-5A00-616D4C3B0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AC4992-5592-A2CE-2C70-61847A085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0D77F-4864-4BFA-AB5E-3D4D68C087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7995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A6F634-2C38-3571-D7BF-0F3E326DD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54DEFF-8418-5789-0474-E3F81A82F9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7D0499-25DE-85BC-EC12-875B8ED05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DBBC8-606E-4382-B665-9FAAC25AC137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67E5B1-5407-4D95-5886-E0B2AA521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ABE001-4D0A-52EA-17F9-54DBB8B2A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0D77F-4864-4BFA-AB5E-3D4D68C087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5128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7C6604-4D8C-2047-E835-B21A087820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26E95F4-D0D4-9498-3D52-9E158E3EA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165944-568B-8288-4771-A78C2E22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DBBC8-606E-4382-B665-9FAAC25AC137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7330B5-982A-00EB-61B5-E69A9274C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82CA6B-2D91-2C92-1D5E-0E86D3019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0D77F-4864-4BFA-AB5E-3D4D68C087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53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3013FEA-C8C6-B498-840C-3C31AAC1F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4388A8-369D-2BDC-CF32-FA3C34BF4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151D3E-D861-FFBD-5E15-240B8AE0F3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7DBBC8-606E-4382-B665-9FAAC25AC137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A1140B-F66A-1F6F-6CA4-D2B154ACBC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D81397-C492-854E-D883-C673F557EE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0D77F-4864-4BFA-AB5E-3D4D68C087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2934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0495C8-8A37-32A4-58F0-9666E8485331}"/>
              </a:ext>
            </a:extLst>
          </p:cNvPr>
          <p:cNvSpPr txBox="1"/>
          <p:nvPr/>
        </p:nvSpPr>
        <p:spPr>
          <a:xfrm>
            <a:off x="457200" y="320040"/>
            <a:ext cx="1124712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32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기본 풀링 </a:t>
            </a:r>
            <a:r>
              <a:rPr lang="en-US" altLang="ko-KR" sz="32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vs </a:t>
            </a:r>
            <a:r>
              <a:rPr lang="ko-KR" altLang="en-US" sz="32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네트워크 풀링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4D2E80-897A-8D6F-72E3-1EE1F6EDF194}"/>
              </a:ext>
            </a:extLst>
          </p:cNvPr>
          <p:cNvSpPr txBox="1"/>
          <p:nvPr/>
        </p:nvSpPr>
        <p:spPr>
          <a:xfrm>
            <a:off x="457200" y="896112"/>
            <a:ext cx="1124712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Photon Fusion 2</a:t>
            </a:r>
            <a:r>
              <a:rPr lang="ko-KR" altLang="en-US" sz="14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에서 </a:t>
            </a:r>
            <a:r>
              <a:rPr lang="en-US" altLang="ko-KR" sz="14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NetworkObject</a:t>
            </a:r>
            <a:r>
              <a:rPr lang="ko-KR" altLang="en-US" sz="14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를 풀링하는 방법과 이유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6F94E6D-A96A-6B84-C5B5-A98936D49E53}"/>
              </a:ext>
            </a:extLst>
          </p:cNvPr>
          <p:cNvSpPr/>
          <p:nvPr/>
        </p:nvSpPr>
        <p:spPr>
          <a:xfrm>
            <a:off x="457200" y="1371600"/>
            <a:ext cx="5486400" cy="2331720"/>
          </a:xfrm>
          <a:prstGeom prst="roundRect">
            <a:avLst>
              <a:gd name="adj" fmla="val 6000"/>
            </a:avLst>
          </a:prstGeom>
          <a:solidFill>
            <a:srgbClr val="F3F1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F4CF0B-19F6-B049-5A52-9F31AFD72CF7}"/>
              </a:ext>
            </a:extLst>
          </p:cNvPr>
          <p:cNvSpPr txBox="1"/>
          <p:nvPr/>
        </p:nvSpPr>
        <p:spPr>
          <a:xfrm>
            <a:off x="731520" y="1508760"/>
            <a:ext cx="493776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① 기본 풀링   </a:t>
            </a:r>
            <a:r>
              <a:rPr lang="en-US" altLang="ko-KR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PoolManager (</a:t>
            </a:r>
            <a:r>
              <a:rPr lang="ko-KR" altLang="en-US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로컬 </a:t>
            </a:r>
            <a:r>
              <a:rPr lang="en-US" altLang="ko-KR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FX)</a:t>
            </a:r>
            <a:endParaRPr lang="ko-KR" altLang="en-US" sz="1100">
              <a:solidFill>
                <a:srgbClr val="6B647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C0E67FF-62EA-39BA-165D-672664B44B66}"/>
              </a:ext>
            </a:extLst>
          </p:cNvPr>
          <p:cNvSpPr/>
          <p:nvPr/>
        </p:nvSpPr>
        <p:spPr>
          <a:xfrm>
            <a:off x="731520" y="2011680"/>
            <a:ext cx="1371600" cy="685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8A82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lang="en-US" altLang="ko-KR" sz="11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GetFX(state)</a:t>
            </a:r>
          </a:p>
          <a:p>
            <a:pPr algn="ctr"/>
            <a:r>
              <a:rPr lang="en-US" altLang="ko-KR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FXState</a:t>
            </a:r>
            <a:r>
              <a:rPr lang="ko-KR" altLang="en-US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요청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472765F-3AA3-72B3-23CC-649AFBAD7B06}"/>
              </a:ext>
            </a:extLst>
          </p:cNvPr>
          <p:cNvSpPr/>
          <p:nvPr/>
        </p:nvSpPr>
        <p:spPr>
          <a:xfrm>
            <a:off x="2331720" y="2011680"/>
            <a:ext cx="1920240" cy="685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8A82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lang="en-US" altLang="ko-KR" sz="11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Stack.Pop()</a:t>
            </a:r>
          </a:p>
          <a:p>
            <a:pPr algn="ctr"/>
            <a:r>
              <a:rPr lang="en-US" altLang="ko-KR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Awake</a:t>
            </a:r>
            <a:r>
              <a:rPr lang="ko-KR" altLang="en-US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에서 미리 만든 </a:t>
            </a:r>
            <a:r>
              <a:rPr lang="en-US" altLang="ko-KR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FX</a:t>
            </a:r>
            <a:endParaRPr lang="ko-KR" altLang="en-US" sz="1000">
              <a:solidFill>
                <a:srgbClr val="6B647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3A7B723-9346-D409-E4FE-B4280D084E83}"/>
              </a:ext>
            </a:extLst>
          </p:cNvPr>
          <p:cNvSpPr/>
          <p:nvPr/>
        </p:nvSpPr>
        <p:spPr>
          <a:xfrm>
            <a:off x="4480560" y="2011680"/>
            <a:ext cx="1188720" cy="685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8A82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lang="en-US" altLang="ko-KR" sz="11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SetActive(true)</a:t>
            </a:r>
          </a:p>
          <a:p>
            <a:pPr algn="ctr"/>
            <a:r>
              <a:rPr lang="ko-KR" altLang="en-US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위치 지정 후 재생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C703525-5ECC-A62C-77CE-AC29EDBEA07B}"/>
              </a:ext>
            </a:extLst>
          </p:cNvPr>
          <p:cNvCxnSpPr/>
          <p:nvPr/>
        </p:nvCxnSpPr>
        <p:spPr>
          <a:xfrm>
            <a:off x="2103120" y="2354580"/>
            <a:ext cx="228600" cy="0"/>
          </a:xfrm>
          <a:prstGeom prst="line">
            <a:avLst/>
          </a:prstGeom>
          <a:ln w="22225">
            <a:solidFill>
              <a:srgbClr val="8A82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E3A7B763-B99A-2110-D5D1-89CC640237EF}"/>
              </a:ext>
            </a:extLst>
          </p:cNvPr>
          <p:cNvCxnSpPr/>
          <p:nvPr/>
        </p:nvCxnSpPr>
        <p:spPr>
          <a:xfrm>
            <a:off x="4251960" y="2354580"/>
            <a:ext cx="228600" cy="0"/>
          </a:xfrm>
          <a:prstGeom prst="line">
            <a:avLst/>
          </a:prstGeom>
          <a:ln w="22225">
            <a:solidFill>
              <a:srgbClr val="8A82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AAB7244-33CB-BF5A-24FD-07D118345678}"/>
              </a:ext>
            </a:extLst>
          </p:cNvPr>
          <p:cNvSpPr txBox="1"/>
          <p:nvPr/>
        </p:nvSpPr>
        <p:spPr>
          <a:xfrm>
            <a:off x="731520" y="2788920"/>
            <a:ext cx="49377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↺ lifeTime </a:t>
            </a:r>
            <a:r>
              <a:rPr lang="ko-KR" altLang="en-US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뒤 </a:t>
            </a:r>
            <a:r>
              <a:rPr lang="en-US" altLang="ko-KR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ReleaseFXAfter → SetActive(false) · Stack.Push</a:t>
            </a:r>
            <a:endParaRPr lang="ko-KR" altLang="en-US" sz="1100">
              <a:solidFill>
                <a:srgbClr val="6B647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46E7885-A039-EE57-80BD-3F1E09D52162}"/>
              </a:ext>
            </a:extLst>
          </p:cNvPr>
          <p:cNvSpPr/>
          <p:nvPr/>
        </p:nvSpPr>
        <p:spPr>
          <a:xfrm>
            <a:off x="731520" y="3154680"/>
            <a:ext cx="4937760" cy="365760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0" rIns="101600" bIns="0" rtlCol="0" anchor="ctr"/>
          <a:lstStyle/>
          <a:p>
            <a:pPr algn="ctr"/>
            <a:r>
              <a:rPr lang="ko-KR" altLang="en-US" sz="1100" b="1">
                <a:solidFill>
                  <a:srgbClr val="C0392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⚠ 내 </a:t>
            </a:r>
            <a:r>
              <a:rPr lang="en-US" altLang="ko-KR" sz="1100" b="1">
                <a:solidFill>
                  <a:srgbClr val="C0392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PC</a:t>
            </a:r>
            <a:r>
              <a:rPr lang="ko-KR" altLang="en-US" sz="1100" b="1">
                <a:solidFill>
                  <a:srgbClr val="C0392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에서만 동작 → 각자 재생하는 로컬 </a:t>
            </a:r>
            <a:r>
              <a:rPr lang="en-US" altLang="ko-KR" sz="1100" b="1">
                <a:solidFill>
                  <a:srgbClr val="C0392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FX </a:t>
            </a:r>
            <a:r>
              <a:rPr lang="ko-KR" altLang="en-US" sz="1100" b="1">
                <a:solidFill>
                  <a:srgbClr val="C0392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전용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087FA0B-A0DC-82F0-D689-C4E78CAC777C}"/>
              </a:ext>
            </a:extLst>
          </p:cNvPr>
          <p:cNvSpPr/>
          <p:nvPr/>
        </p:nvSpPr>
        <p:spPr>
          <a:xfrm>
            <a:off x="457200" y="3840480"/>
            <a:ext cx="5486400" cy="2560320"/>
          </a:xfrm>
          <a:prstGeom prst="roundRect">
            <a:avLst>
              <a:gd name="adj" fmla="val 6000"/>
            </a:avLst>
          </a:prstGeom>
          <a:solidFill>
            <a:srgbClr val="E7F6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A78026-26E2-00D8-B3B7-55F199BA2B10}"/>
              </a:ext>
            </a:extLst>
          </p:cNvPr>
          <p:cNvSpPr txBox="1"/>
          <p:nvPr/>
        </p:nvSpPr>
        <p:spPr>
          <a:xfrm>
            <a:off x="731520" y="3977640"/>
            <a:ext cx="493776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0E9F8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② 네트워크 풀링   </a:t>
            </a:r>
            <a:r>
              <a:rPr lang="en-US" altLang="ko-KR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PooledNetworkObjectProvider</a:t>
            </a:r>
            <a:endParaRPr lang="ko-KR" altLang="en-US" sz="1100">
              <a:solidFill>
                <a:srgbClr val="6B647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1F03032-1881-6385-7C22-E6474E6A4212}"/>
              </a:ext>
            </a:extLst>
          </p:cNvPr>
          <p:cNvSpPr/>
          <p:nvPr/>
        </p:nvSpPr>
        <p:spPr>
          <a:xfrm>
            <a:off x="731520" y="4434840"/>
            <a:ext cx="1371600" cy="62179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0E9F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lang="en-US" altLang="ko-KR" sz="11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Runner.Spawn()</a:t>
            </a:r>
          </a:p>
          <a:p>
            <a:pPr algn="ctr"/>
            <a:r>
              <a:rPr lang="ko-KR" altLang="en-US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게임 코드 그대로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CD60758-2470-B02B-5DB7-EED602D12DB9}"/>
              </a:ext>
            </a:extLst>
          </p:cNvPr>
          <p:cNvSpPr/>
          <p:nvPr/>
        </p:nvSpPr>
        <p:spPr>
          <a:xfrm>
            <a:off x="2331720" y="4434840"/>
            <a:ext cx="1920240" cy="621792"/>
          </a:xfrm>
          <a:prstGeom prst="roundRect">
            <a:avLst>
              <a:gd name="adj" fmla="val 18000"/>
            </a:avLst>
          </a:prstGeom>
          <a:solidFill>
            <a:srgbClr val="0E9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InstantiatePrefab()</a:t>
            </a:r>
          </a:p>
          <a:p>
            <a:pPr algn="ctr"/>
            <a:r>
              <a:rPr lang="en-US" altLang="ko-KR" sz="1000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Stack.Pop() · </a:t>
            </a:r>
            <a:r>
              <a:rPr lang="ko-KR" altLang="en-US" sz="1000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풀에서 꺼냄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D8555E4-A23A-5D22-287F-901F8A0F59EC}"/>
              </a:ext>
            </a:extLst>
          </p:cNvPr>
          <p:cNvSpPr/>
          <p:nvPr/>
        </p:nvSpPr>
        <p:spPr>
          <a:xfrm>
            <a:off x="4480560" y="4434840"/>
            <a:ext cx="1188720" cy="62179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0E9F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lang="en-US" altLang="ko-KR" sz="11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Spawned()</a:t>
            </a:r>
          </a:p>
          <a:p>
            <a:pPr algn="ctr"/>
            <a:r>
              <a:rPr lang="ko-KR" altLang="en-US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상태 동기화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CF6903D8-5DAA-7D6D-83C0-9F38F661ADE7}"/>
              </a:ext>
            </a:extLst>
          </p:cNvPr>
          <p:cNvCxnSpPr/>
          <p:nvPr/>
        </p:nvCxnSpPr>
        <p:spPr>
          <a:xfrm>
            <a:off x="2103120" y="4745736"/>
            <a:ext cx="228600" cy="0"/>
          </a:xfrm>
          <a:prstGeom prst="line">
            <a:avLst/>
          </a:prstGeom>
          <a:ln w="22225">
            <a:solidFill>
              <a:srgbClr val="0E9F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BAB0A2E-4402-8647-A400-7B9942BBBCAE}"/>
              </a:ext>
            </a:extLst>
          </p:cNvPr>
          <p:cNvCxnSpPr/>
          <p:nvPr/>
        </p:nvCxnSpPr>
        <p:spPr>
          <a:xfrm>
            <a:off x="4251960" y="4745736"/>
            <a:ext cx="228600" cy="0"/>
          </a:xfrm>
          <a:prstGeom prst="line">
            <a:avLst/>
          </a:prstGeom>
          <a:ln w="22225">
            <a:solidFill>
              <a:srgbClr val="0E9F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FE42660E-DC8A-2449-1505-C1B726BC75C5}"/>
              </a:ext>
            </a:extLst>
          </p:cNvPr>
          <p:cNvSpPr/>
          <p:nvPr/>
        </p:nvSpPr>
        <p:spPr>
          <a:xfrm>
            <a:off x="731520" y="5239512"/>
            <a:ext cx="1371600" cy="62179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0E9F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lang="en-US" altLang="ko-KR" sz="11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Runner.Despawn()</a:t>
            </a:r>
          </a:p>
          <a:p>
            <a:pPr algn="ctr"/>
            <a:r>
              <a:rPr lang="en-US" altLang="ko-KR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Despawned() </a:t>
            </a:r>
            <a:r>
              <a:rPr lang="ko-KR" altLang="en-US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리셋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FDF845BB-A6D4-E7E0-0AA1-812625BBA71B}"/>
              </a:ext>
            </a:extLst>
          </p:cNvPr>
          <p:cNvSpPr/>
          <p:nvPr/>
        </p:nvSpPr>
        <p:spPr>
          <a:xfrm>
            <a:off x="2331720" y="5239512"/>
            <a:ext cx="1920240" cy="621792"/>
          </a:xfrm>
          <a:prstGeom prst="roundRect">
            <a:avLst>
              <a:gd name="adj" fmla="val 18000"/>
            </a:avLst>
          </a:prstGeom>
          <a:solidFill>
            <a:srgbClr val="0E9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DestroyPrefabInstance()</a:t>
            </a:r>
          </a:p>
          <a:p>
            <a:pPr algn="ctr"/>
            <a:r>
              <a:rPr lang="en-US" altLang="ko-KR" sz="1000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Stack.Push() · </a:t>
            </a:r>
            <a:r>
              <a:rPr lang="ko-KR" altLang="en-US" sz="1000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풀로 반납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0DC66271-2D98-3B0D-11A9-9C5E4A377EEE}"/>
              </a:ext>
            </a:extLst>
          </p:cNvPr>
          <p:cNvSpPr/>
          <p:nvPr/>
        </p:nvSpPr>
        <p:spPr>
          <a:xfrm>
            <a:off x="4480560" y="5239512"/>
            <a:ext cx="1188720" cy="62179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0E9F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lang="en-US" altLang="ko-KR" sz="11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SetActive(false)</a:t>
            </a:r>
          </a:p>
          <a:p>
            <a:pPr algn="ctr"/>
            <a:r>
              <a:rPr lang="en-US" altLang="ko-KR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Runner </a:t>
            </a:r>
            <a:r>
              <a:rPr lang="ko-KR" altLang="en-US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밑에 보관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0B81881-F795-12DE-7621-BDBEE5EB8E70}"/>
              </a:ext>
            </a:extLst>
          </p:cNvPr>
          <p:cNvCxnSpPr/>
          <p:nvPr/>
        </p:nvCxnSpPr>
        <p:spPr>
          <a:xfrm>
            <a:off x="2103120" y="5550408"/>
            <a:ext cx="228600" cy="0"/>
          </a:xfrm>
          <a:prstGeom prst="line">
            <a:avLst/>
          </a:prstGeom>
          <a:ln w="22225">
            <a:solidFill>
              <a:srgbClr val="0E9F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D562529F-F232-0A7A-719F-732EE42D2B63}"/>
              </a:ext>
            </a:extLst>
          </p:cNvPr>
          <p:cNvCxnSpPr/>
          <p:nvPr/>
        </p:nvCxnSpPr>
        <p:spPr>
          <a:xfrm>
            <a:off x="4251960" y="5550408"/>
            <a:ext cx="228600" cy="0"/>
          </a:xfrm>
          <a:prstGeom prst="line">
            <a:avLst/>
          </a:prstGeom>
          <a:ln w="22225">
            <a:solidFill>
              <a:srgbClr val="0E9F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98404FFF-57EF-1631-F276-D001DBDCA6DC}"/>
              </a:ext>
            </a:extLst>
          </p:cNvPr>
          <p:cNvSpPr/>
          <p:nvPr/>
        </p:nvSpPr>
        <p:spPr>
          <a:xfrm>
            <a:off x="731520" y="5971032"/>
            <a:ext cx="4937760" cy="329184"/>
          </a:xfrm>
          <a:prstGeom prst="roundRect">
            <a:avLst>
              <a:gd name="adj" fmla="val 50000"/>
            </a:avLst>
          </a:prstGeom>
          <a:solidFill>
            <a:srgbClr val="0E9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0" rIns="101600" bIns="0" rtlCol="0" anchor="ctr"/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✓ </a:t>
            </a:r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Host · Client </a:t>
            </a:r>
            <a:r>
              <a:rPr lang="ko-KR" altLang="en-US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모든 피어의 </a:t>
            </a:r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Runner</a:t>
            </a:r>
            <a:r>
              <a:rPr lang="ko-KR" altLang="en-US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 같은 경로로 재사용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AF9342BB-1272-0E4B-FE30-9F79DCDE61BB}"/>
              </a:ext>
            </a:extLst>
          </p:cNvPr>
          <p:cNvSpPr/>
          <p:nvPr/>
        </p:nvSpPr>
        <p:spPr>
          <a:xfrm>
            <a:off x="6400800" y="1371600"/>
            <a:ext cx="384048" cy="384048"/>
          </a:xfrm>
          <a:prstGeom prst="ellipse">
            <a:avLst/>
          </a:prstGeom>
          <a:solidFill>
            <a:srgbClr val="6A2C9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3C04752-081C-9C61-3ACE-35A29161A37F}"/>
              </a:ext>
            </a:extLst>
          </p:cNvPr>
          <p:cNvSpPr txBox="1"/>
          <p:nvPr/>
        </p:nvSpPr>
        <p:spPr>
          <a:xfrm>
            <a:off x="6949440" y="1389888"/>
            <a:ext cx="475488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기본 풀링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9A2C51-9D6A-3864-383E-A1C1203E9F4C}"/>
              </a:ext>
            </a:extLst>
          </p:cNvPr>
          <p:cNvSpPr txBox="1"/>
          <p:nvPr/>
        </p:nvSpPr>
        <p:spPr>
          <a:xfrm>
            <a:off x="6949440" y="1828800"/>
            <a:ext cx="47548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FX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를 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Awake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에서 미리 만들어 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Stack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으로 재사용한다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b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내 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PC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에서만 동작해 다른 피어는 알 수 없으므로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</a:t>
            </a:r>
            <a:b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RPC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각자 재생하는 로컬 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FX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에만 쓴다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1F1A2E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2BBDFF4B-1C46-DF08-3BCE-35796AD44643}"/>
              </a:ext>
            </a:extLst>
          </p:cNvPr>
          <p:cNvSpPr/>
          <p:nvPr/>
        </p:nvSpPr>
        <p:spPr>
          <a:xfrm>
            <a:off x="6400800" y="2834640"/>
            <a:ext cx="384048" cy="384048"/>
          </a:xfrm>
          <a:prstGeom prst="ellipse">
            <a:avLst/>
          </a:prstGeom>
          <a:solidFill>
            <a:srgbClr val="0E9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BDB233-955A-4A61-59C8-92EAEC2C98CF}"/>
              </a:ext>
            </a:extLst>
          </p:cNvPr>
          <p:cNvSpPr txBox="1"/>
          <p:nvPr/>
        </p:nvSpPr>
        <p:spPr>
          <a:xfrm>
            <a:off x="6949440" y="2852928"/>
            <a:ext cx="475488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b="1">
                <a:solidFill>
                  <a:srgbClr val="0E9F8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네트워크 풀링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196ECFF-0D69-5A79-E946-CD9232EAC221}"/>
              </a:ext>
            </a:extLst>
          </p:cNvPr>
          <p:cNvSpPr txBox="1"/>
          <p:nvPr/>
        </p:nvSpPr>
        <p:spPr>
          <a:xfrm>
            <a:off x="6949440" y="3291840"/>
            <a:ext cx="47548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Fusion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 생성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파괴 경로인 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INetworkObjectProvider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를 교체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b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게임 코드는 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Runner.Spawn / Despawn 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그대로 두고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</a:t>
            </a:r>
            <a:b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실제 인스턴스만 풀에서 꺼내고 반납한다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1F1A2E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1506D105-2B24-879E-CC36-9F609B462902}"/>
              </a:ext>
            </a:extLst>
          </p:cNvPr>
          <p:cNvSpPr/>
          <p:nvPr/>
        </p:nvSpPr>
        <p:spPr>
          <a:xfrm>
            <a:off x="6400800" y="4297680"/>
            <a:ext cx="384048" cy="384048"/>
          </a:xfrm>
          <a:prstGeom prst="ellipse">
            <a:avLst/>
          </a:prstGeom>
          <a:solidFill>
            <a:srgbClr val="F26B1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3</a:t>
            </a:r>
            <a:endParaRPr lang="ko-KR" altLang="en-US" sz="14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1178FB-FDB6-E6D7-3CA3-5AE462A7CE54}"/>
              </a:ext>
            </a:extLst>
          </p:cNvPr>
          <p:cNvSpPr txBox="1"/>
          <p:nvPr/>
        </p:nvSpPr>
        <p:spPr>
          <a:xfrm>
            <a:off x="6949440" y="4315968"/>
            <a:ext cx="475488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b="1">
                <a:solidFill>
                  <a:srgbClr val="F26B1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왜 </a:t>
            </a:r>
            <a:r>
              <a:rPr lang="en-US" altLang="ko-KR" b="1">
                <a:solidFill>
                  <a:srgbClr val="F26B1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Fusion 2</a:t>
            </a:r>
            <a:r>
              <a:rPr lang="ko-KR" altLang="en-US" b="1">
                <a:solidFill>
                  <a:srgbClr val="F26B1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 필요한가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4A6099-D2A5-BB52-1E3E-F2136B31EB9F}"/>
              </a:ext>
            </a:extLst>
          </p:cNvPr>
          <p:cNvSpPr txBox="1"/>
          <p:nvPr/>
        </p:nvSpPr>
        <p:spPr>
          <a:xfrm>
            <a:off x="6949440" y="4754880"/>
            <a:ext cx="47548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177800" indent="-177800">
              <a:spcAft>
                <a:spcPts val="600"/>
              </a:spcAft>
              <a:buClr>
                <a:srgbClr val="F26B1D"/>
              </a:buClr>
              <a:buFont typeface="+mj-lt"/>
              <a:buChar char="•"/>
            </a:pP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잉크 탄은 초당 수십 발 생성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삭제 →</a:t>
            </a:r>
            <a:b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매번 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Instantiate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하면 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GC 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스파이크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프레임 드랍</a:t>
            </a:r>
          </a:p>
          <a:p>
            <a:pPr marL="177800" indent="-177800">
              <a:spcAft>
                <a:spcPts val="600"/>
              </a:spcAft>
              <a:buClr>
                <a:srgbClr val="F26B1D"/>
              </a:buClr>
              <a:buFont typeface="+mj-lt"/>
              <a:buChar char="•"/>
            </a:pP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NetworkObject 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생명주기는 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Runner 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소유 →</a:t>
            </a:r>
            <a:b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SetActive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우회하면 동기화가 깨짐</a:t>
            </a:r>
          </a:p>
          <a:p>
            <a:pPr marL="177800" indent="-177800">
              <a:spcAft>
                <a:spcPts val="600"/>
              </a:spcAft>
              <a:buClr>
                <a:srgbClr val="F26B1D"/>
              </a:buClr>
              <a:buFont typeface="+mj-lt"/>
              <a:buChar char="•"/>
            </a:pP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Provider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Host·Client 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모두에서 호출 →</a:t>
            </a:r>
            <a:b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모든 피어가 각자 풀을 재사용</a:t>
            </a:r>
          </a:p>
        </p:txBody>
      </p:sp>
    </p:spTree>
    <p:extLst>
      <p:ext uri="{BB962C8B-B14F-4D97-AF65-F5344CB8AC3E}">
        <p14:creationId xmlns:p14="http://schemas.microsoft.com/office/powerpoint/2010/main" val="4140328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91B38F-526E-FCC0-3604-8A8587881B76}"/>
              </a:ext>
            </a:extLst>
          </p:cNvPr>
          <p:cNvSpPr txBox="1"/>
          <p:nvPr/>
        </p:nvSpPr>
        <p:spPr>
          <a:xfrm>
            <a:off x="457200" y="320040"/>
            <a:ext cx="1124712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32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기본 풀링 </a:t>
            </a:r>
            <a:r>
              <a:rPr lang="en-US" altLang="ko-KR" sz="32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vs </a:t>
            </a:r>
            <a:r>
              <a:rPr lang="ko-KR" altLang="en-US" sz="32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네트워크 풀링 </a:t>
            </a:r>
            <a:r>
              <a:rPr lang="en-US" altLang="ko-KR" sz="32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32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코드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AE1F84-8249-9AB6-E248-E2DDAEA7065C}"/>
              </a:ext>
            </a:extLst>
          </p:cNvPr>
          <p:cNvSpPr txBox="1"/>
          <p:nvPr/>
        </p:nvSpPr>
        <p:spPr>
          <a:xfrm>
            <a:off x="457200" y="896112"/>
            <a:ext cx="1124712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PoolManager.cs · PooledNetworkObjectProvider.cs   (</a:t>
            </a:r>
            <a:r>
              <a:rPr lang="ko-KR" altLang="en-US" sz="14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주황색 </a:t>
            </a:r>
            <a:r>
              <a:rPr lang="en-US" altLang="ko-KR" sz="14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핵심 부분</a:t>
            </a:r>
            <a:r>
              <a:rPr lang="en-US" altLang="ko-KR" sz="14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endParaRPr lang="ko-KR" altLang="en-US" sz="1400">
              <a:solidFill>
                <a:srgbClr val="6B647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B9299B4-E532-DDD2-5B00-EC8459EC9B69}"/>
              </a:ext>
            </a:extLst>
          </p:cNvPr>
          <p:cNvSpPr/>
          <p:nvPr/>
        </p:nvSpPr>
        <p:spPr>
          <a:xfrm>
            <a:off x="365760" y="1325880"/>
            <a:ext cx="5623560" cy="5120640"/>
          </a:xfrm>
          <a:prstGeom prst="roundRect">
            <a:avLst>
              <a:gd name="adj" fmla="val 4000"/>
            </a:avLst>
          </a:prstGeom>
          <a:solidFill>
            <a:srgbClr val="F3F1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3B4899-85D6-6CDF-7177-7223115FC51A}"/>
              </a:ext>
            </a:extLst>
          </p:cNvPr>
          <p:cNvSpPr txBox="1"/>
          <p:nvPr/>
        </p:nvSpPr>
        <p:spPr>
          <a:xfrm>
            <a:off x="548640" y="1399032"/>
            <a:ext cx="493776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① 기본 풀링 </a:t>
            </a:r>
            <a:r>
              <a:rPr lang="en-US" altLang="ko-KR" sz="1500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(FX)   </a:t>
            </a:r>
            <a:r>
              <a:rPr lang="en-US" altLang="ko-KR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PoolManager.cs</a:t>
            </a:r>
            <a:endParaRPr lang="ko-KR" altLang="en-US" sz="1100">
              <a:solidFill>
                <a:srgbClr val="6B647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D29DFA3-57E0-0F5C-4BDB-2AFF86B4B1DA}"/>
              </a:ext>
            </a:extLst>
          </p:cNvPr>
          <p:cNvSpPr/>
          <p:nvPr/>
        </p:nvSpPr>
        <p:spPr>
          <a:xfrm>
            <a:off x="484632" y="1783080"/>
            <a:ext cx="5385816" cy="416052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7000" tIns="76200" rIns="76200" bIns="76200" rtlCol="0" anchor="t"/>
          <a:lstStyle/>
          <a:p>
            <a:pPr>
              <a:lnSpc>
                <a:spcPct val="90000"/>
              </a:lnSpc>
            </a:pPr>
            <a:r>
              <a:rPr lang="en-US" altLang="ko-KR" sz="1000" b="1">
                <a:solidFill>
                  <a:srgbClr val="FFB86C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Stack&lt;GameObject&gt;[] _poolStack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;          </a:t>
            </a:r>
            <a:r>
              <a:rPr lang="en-US" altLang="ko-KR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// FXState</a:t>
            </a:r>
            <a:r>
              <a:rPr lang="ko-KR" altLang="en-US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별 대기 </a:t>
            </a:r>
            <a:r>
              <a:rPr lang="en-US" altLang="ko-KR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Stack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public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void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InitPool()                   </a:t>
            </a:r>
            <a:r>
              <a:rPr lang="en-US" altLang="ko-KR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// Awake</a:t>
            </a:r>
            <a:r>
              <a:rPr lang="ko-KR" altLang="en-US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에서 호출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_poolStack =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new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Stack&lt;GameObject&gt;[_objInfo.Length];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for (int i = 0; i &lt; _poolStack.Length; i++)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{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    _poolStack[i] =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new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Stack&lt;GameObject&gt;(_objInfo[i]._count);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    for (int j = 0; j &lt; _objInfo[i]._count; j++)   </a:t>
            </a:r>
            <a:r>
              <a:rPr lang="en-US" altLang="ko-KR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// </a:t>
            </a:r>
            <a:r>
              <a:rPr lang="ko-KR" altLang="en-US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미리 생성</a:t>
            </a:r>
          </a:p>
          <a:p>
            <a:pPr>
              <a:lnSpc>
                <a:spcPct val="90000"/>
              </a:lnSpc>
            </a:pPr>
            <a:r>
              <a:rPr lang="ko-KR" altLang="en-US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    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        GameObject obj = Instantiate(_objInfo[i]._objPrefab,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                                     _objInfo[i]._tfPoolParent);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        obj.SetActive(false);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        </a:t>
            </a:r>
            <a:r>
              <a:rPr lang="en-US" altLang="ko-KR" sz="1000" b="1">
                <a:solidFill>
                  <a:srgbClr val="FFB86C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_poolStack[i].Push(obj)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    }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}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}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public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GameObject GetFX(FXState state, </a:t>
            </a:r>
            <a:r>
              <a:rPr lang="en-US" altLang="ko-KR" sz="1000">
                <a:solidFill>
                  <a:srgbClr val="4EC9B0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Vector3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position, ...)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ObjectInfo info = _objInfo[(int)state];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Stack&lt;GameObject&gt; stack = _poolStack[(int)state];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GameObject fx = null;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while (fx == null &amp;&amp; stack.Count &gt; 0) fx = </a:t>
            </a:r>
            <a:r>
              <a:rPr lang="en-US" altLang="ko-KR" sz="1000" b="1">
                <a:solidFill>
                  <a:srgbClr val="FFB86C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stack.Pop()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if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(fx == null) fx = Instantiate(info._objPrefab, ...); </a:t>
            </a:r>
            <a:r>
              <a:rPr lang="en-US" altLang="ko-KR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// </a:t>
            </a:r>
            <a:r>
              <a:rPr lang="ko-KR" altLang="en-US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비면 생성</a:t>
            </a:r>
          </a:p>
          <a:p>
            <a:pPr>
              <a:lnSpc>
                <a:spcPct val="90000"/>
              </a:lnSpc>
            </a:pPr>
            <a:r>
              <a:rPr lang="ko-KR" altLang="en-US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else { fx.transform.SetPositionAndRotation(position, rotation);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       fx.SetActive(true); }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StartCoroutine(</a:t>
            </a:r>
            <a:r>
              <a:rPr lang="en-US" altLang="ko-KR" sz="1000" b="1">
                <a:solidFill>
                  <a:srgbClr val="FFB86C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ReleaseFXAfter(fx, stack, lifeTime)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); </a:t>
            </a:r>
            <a:r>
              <a:rPr lang="en-US" altLang="ko-KR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// </a:t>
            </a:r>
            <a:r>
              <a:rPr lang="ko-KR" altLang="en-US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시간 뒤 </a:t>
            </a:r>
            <a:r>
              <a:rPr lang="en-US" altLang="ko-KR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Push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return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fx;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}</a:t>
            </a:r>
            <a:endParaRPr lang="ko-KR" altLang="en-US" sz="1000">
              <a:solidFill>
                <a:srgbClr val="D4D4D4"/>
              </a:solidFill>
              <a:latin typeface="Consolas" panose="020B0609020204030204" pitchFamily="49" charset="0"/>
              <a:ea typeface="Malgun Gothic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A3E195A-A152-D29A-A67E-54769E0FEAA9}"/>
              </a:ext>
            </a:extLst>
          </p:cNvPr>
          <p:cNvSpPr/>
          <p:nvPr/>
        </p:nvSpPr>
        <p:spPr>
          <a:xfrm>
            <a:off x="484632" y="6035040"/>
            <a:ext cx="5385816" cy="329184"/>
          </a:xfrm>
          <a:prstGeom prst="roundRect">
            <a:avLst>
              <a:gd name="adj" fmla="val 50000"/>
            </a:avLst>
          </a:prstGeom>
          <a:solidFill>
            <a:srgbClr val="6A2C9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0" rIns="101600" bIns="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Awake</a:t>
            </a:r>
            <a:r>
              <a:rPr lang="ko-KR" altLang="en-US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에서 미리 생성 </a:t>
            </a:r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Stack Pop / Push · </a:t>
            </a:r>
            <a:r>
              <a:rPr lang="ko-KR" altLang="en-US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로컬 </a:t>
            </a:r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FX </a:t>
            </a:r>
            <a:r>
              <a:rPr lang="ko-KR" altLang="en-US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전용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82D6627-AD10-D9C6-530C-4148904B7F92}"/>
              </a:ext>
            </a:extLst>
          </p:cNvPr>
          <p:cNvSpPr/>
          <p:nvPr/>
        </p:nvSpPr>
        <p:spPr>
          <a:xfrm>
            <a:off x="6199632" y="1325880"/>
            <a:ext cx="5623560" cy="5120640"/>
          </a:xfrm>
          <a:prstGeom prst="roundRect">
            <a:avLst>
              <a:gd name="adj" fmla="val 4000"/>
            </a:avLst>
          </a:prstGeom>
          <a:solidFill>
            <a:srgbClr val="E7F6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4CDDF6-9FA8-8D0D-8E81-41B0EDC3C44F}"/>
              </a:ext>
            </a:extLst>
          </p:cNvPr>
          <p:cNvSpPr txBox="1"/>
          <p:nvPr/>
        </p:nvSpPr>
        <p:spPr>
          <a:xfrm>
            <a:off x="6382512" y="1399032"/>
            <a:ext cx="493776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0E9F8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② 네트워크 풀링   </a:t>
            </a:r>
            <a:r>
              <a:rPr lang="en-US" altLang="ko-KR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PooledNetworkObjectProvider.cs</a:t>
            </a:r>
            <a:endParaRPr lang="ko-KR" altLang="en-US" sz="1100">
              <a:solidFill>
                <a:srgbClr val="6B647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7C63C1E-E1B6-1B50-5D2B-DF59689B3F52}"/>
              </a:ext>
            </a:extLst>
          </p:cNvPr>
          <p:cNvSpPr/>
          <p:nvPr/>
        </p:nvSpPr>
        <p:spPr>
          <a:xfrm>
            <a:off x="6318504" y="1783080"/>
            <a:ext cx="5385816" cy="416052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7000" tIns="76200" rIns="76200" bIns="76200" rtlCol="0" anchor="t"/>
          <a:lstStyle/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// class PooledNetworkObjectProvider : NetworkObjectProviderDefault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readonly Dictionary&lt;NetworkObject, Stack&lt;NetworkObject&gt;&gt; _pool =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new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();</a:t>
            </a:r>
          </a:p>
          <a:p>
            <a:pPr>
              <a:lnSpc>
                <a:spcPct val="90000"/>
              </a:lnSpc>
            </a:pPr>
            <a:endParaRPr lang="en-US" altLang="ko-KR" sz="1000">
              <a:solidFill>
                <a:srgbClr val="D4D4D4"/>
              </a:solidFill>
              <a:latin typeface="Consolas" panose="020B0609020204030204" pitchFamily="49" charset="0"/>
              <a:ea typeface="Malgun Gothic" panose="020B0503020000020004" pitchFamily="50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// Runner.Spawn() → </a:t>
            </a:r>
            <a:r>
              <a:rPr lang="ko-KR" altLang="en-US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풀에 있으면 꺼내서 재사용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protected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override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NetworkObject </a:t>
            </a:r>
            <a:r>
              <a:rPr lang="en-US" altLang="ko-KR" sz="1000" b="1">
                <a:solidFill>
                  <a:srgbClr val="FFB86C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InstantiatePrefab(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NetworkRunner runner, NetworkObject prefab) {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if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(_pool.TryGetValue(prefab, out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var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stack) &amp;&amp; stack.Count &gt; 0) {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   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var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instance = </a:t>
            </a:r>
            <a:r>
              <a:rPr lang="en-US" altLang="ko-KR" sz="1000" b="1">
                <a:solidFill>
                  <a:srgbClr val="FFB86C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stack.Pop()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    instance.transform.SetParent(null, false);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    instance.gameObject.SetActive(true);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   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return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instance;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}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return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base.</a:t>
            </a:r>
            <a:r>
              <a:rPr lang="en-US" altLang="ko-KR" sz="1000" b="1">
                <a:solidFill>
                  <a:srgbClr val="FFB86C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InstantiatePrefab(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runner, prefab);  </a:t>
            </a:r>
            <a:r>
              <a:rPr lang="en-US" altLang="ko-KR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// </a:t>
            </a:r>
            <a:r>
              <a:rPr lang="ko-KR" altLang="en-US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없으면 생성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}</a:t>
            </a:r>
          </a:p>
          <a:p>
            <a:pPr>
              <a:lnSpc>
                <a:spcPct val="90000"/>
              </a:lnSpc>
            </a:pPr>
            <a:endParaRPr lang="en-US" altLang="ko-KR" sz="1000">
              <a:solidFill>
                <a:srgbClr val="D4D4D4"/>
              </a:solidFill>
              <a:latin typeface="Consolas" panose="020B0609020204030204" pitchFamily="49" charset="0"/>
              <a:ea typeface="Malgun Gothic" panose="020B0503020000020004" pitchFamily="50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// Runner.Despawn() → </a:t>
            </a:r>
            <a:r>
              <a:rPr lang="ko-KR" altLang="en-US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파괴하지 않고 풀로 반납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protected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override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void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</a:t>
            </a:r>
            <a:r>
              <a:rPr lang="en-US" altLang="ko-KR" sz="1000" b="1">
                <a:solidFill>
                  <a:srgbClr val="FFB86C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DestroyPrefabInstance(NetworkRunner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runner,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NetworkPrefabId prefabId, NetworkObject instance) {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var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prefab = runner.Prefabs.Load(prefabId, isSynchronous: true);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if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(prefab == null || !_pool.TryGetValue(prefab, out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var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stack)) {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    base.DestroyPrefabInstance(runner, prefabId, instance);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   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return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}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instance.gameObject.SetActive(false);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instance.transform.SetParent(transform, false);  </a:t>
            </a:r>
            <a:r>
              <a:rPr lang="en-US" altLang="ko-KR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// </a:t>
            </a:r>
            <a:r>
              <a:rPr lang="ko-KR" altLang="en-US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보관</a:t>
            </a:r>
          </a:p>
          <a:p>
            <a:pPr>
              <a:lnSpc>
                <a:spcPct val="90000"/>
              </a:lnSpc>
            </a:pPr>
            <a:r>
              <a:rPr lang="ko-KR" altLang="en-US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</a:t>
            </a:r>
            <a:r>
              <a:rPr lang="en-US" altLang="ko-KR" sz="1000" b="1">
                <a:solidFill>
                  <a:srgbClr val="FFB86C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stack.Push(instance)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}</a:t>
            </a:r>
            <a:endParaRPr lang="ko-KR" altLang="en-US" sz="1000">
              <a:solidFill>
                <a:srgbClr val="D4D4D4"/>
              </a:solidFill>
              <a:latin typeface="Consolas" panose="020B0609020204030204" pitchFamily="49" charset="0"/>
              <a:ea typeface="Malgun Gothic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5E41D35-07D4-DCBC-10CF-48419A693631}"/>
              </a:ext>
            </a:extLst>
          </p:cNvPr>
          <p:cNvSpPr/>
          <p:nvPr/>
        </p:nvSpPr>
        <p:spPr>
          <a:xfrm>
            <a:off x="6318504" y="6035040"/>
            <a:ext cx="5385816" cy="329184"/>
          </a:xfrm>
          <a:prstGeom prst="roundRect">
            <a:avLst>
              <a:gd name="adj" fmla="val 50000"/>
            </a:avLst>
          </a:prstGeom>
          <a:solidFill>
            <a:srgbClr val="0E9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0" rIns="101600" bIns="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StartGameArgs.ObjectProvider = provider </a:t>
            </a:r>
            <a:r>
              <a:rPr lang="ko-KR" altLang="en-US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</a:t>
            </a:r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Runner</a:t>
            </a:r>
            <a:r>
              <a:rPr lang="ko-KR" altLang="en-US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 연결</a:t>
            </a:r>
          </a:p>
        </p:txBody>
      </p:sp>
    </p:spTree>
    <p:extLst>
      <p:ext uri="{BB962C8B-B14F-4D97-AF65-F5344CB8AC3E}">
        <p14:creationId xmlns:p14="http://schemas.microsoft.com/office/powerpoint/2010/main" val="2959478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5FEE90-F730-2019-B0D4-47DD214D9009}"/>
              </a:ext>
            </a:extLst>
          </p:cNvPr>
          <p:cNvSpPr txBox="1"/>
          <p:nvPr/>
        </p:nvSpPr>
        <p:spPr>
          <a:xfrm>
            <a:off x="457200" y="320040"/>
            <a:ext cx="1124712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32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Tick </a:t>
            </a:r>
            <a:r>
              <a:rPr lang="ko-KR" altLang="en-US" sz="32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기반 투사체 동기화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C6BFC6-A29C-8551-1CA3-2C0A5135D919}"/>
              </a:ext>
            </a:extLst>
          </p:cNvPr>
          <p:cNvSpPr txBox="1"/>
          <p:nvPr/>
        </p:nvSpPr>
        <p:spPr>
          <a:xfrm>
            <a:off x="457200" y="896112"/>
            <a:ext cx="1124712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NetworkInkProjectile — </a:t>
            </a:r>
            <a:r>
              <a:rPr lang="ko-KR" altLang="en-US" sz="14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발사 순간과 탄착 순간만 동기화하고</a:t>
            </a:r>
            <a:r>
              <a:rPr lang="en-US" altLang="ko-KR" sz="14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궤적은 각 피어가 </a:t>
            </a:r>
            <a:r>
              <a:rPr lang="en-US" altLang="ko-KR" sz="14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Tick</a:t>
            </a:r>
            <a:r>
              <a:rPr lang="ko-KR" altLang="en-US" sz="14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으로 계산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B302EC1-4244-AFD1-6DD3-F2516E2263E2}"/>
              </a:ext>
            </a:extLst>
          </p:cNvPr>
          <p:cNvSpPr/>
          <p:nvPr/>
        </p:nvSpPr>
        <p:spPr>
          <a:xfrm>
            <a:off x="457200" y="1371600"/>
            <a:ext cx="5486400" cy="2331720"/>
          </a:xfrm>
          <a:prstGeom prst="roundRect">
            <a:avLst>
              <a:gd name="adj" fmla="val 6000"/>
            </a:avLst>
          </a:prstGeom>
          <a:solidFill>
            <a:srgbClr val="F3F1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AA4E75-31CC-2C88-1602-BF34CBE1035A}"/>
              </a:ext>
            </a:extLst>
          </p:cNvPr>
          <p:cNvSpPr txBox="1"/>
          <p:nvPr/>
        </p:nvSpPr>
        <p:spPr>
          <a:xfrm>
            <a:off x="731520" y="1508760"/>
            <a:ext cx="493776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① 발사 순간   </a:t>
            </a:r>
            <a:r>
              <a:rPr lang="en-US" altLang="ko-KR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Initialize() · 1</a:t>
            </a:r>
            <a:r>
              <a:rPr lang="ko-KR" altLang="en-US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회만 기록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3A0B37A-D25B-8115-E2CD-7271C02C5069}"/>
              </a:ext>
            </a:extLst>
          </p:cNvPr>
          <p:cNvSpPr/>
          <p:nvPr/>
        </p:nvSpPr>
        <p:spPr>
          <a:xfrm>
            <a:off x="731520" y="2011680"/>
            <a:ext cx="1600200" cy="1051560"/>
          </a:xfrm>
          <a:prstGeom prst="roundRect">
            <a:avLst>
              <a:gd name="adj" fmla="val 12000"/>
            </a:avLst>
          </a:prstGeom>
          <a:solidFill>
            <a:srgbClr val="6A2C9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rIns="50800" rtlCol="0" anchor="ctr"/>
          <a:lstStyle/>
          <a:p>
            <a:pPr algn="ctr"/>
            <a:r>
              <a:rPr lang="en-US" altLang="ko-KR" sz="1000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[Networked]</a:t>
            </a:r>
          </a:p>
          <a:p>
            <a:pPr algn="ctr"/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InkProjectileData</a:t>
            </a:r>
          </a:p>
          <a:p>
            <a:pPr algn="ctr"/>
            <a:r>
              <a:rPr lang="en-US" altLang="ko-KR" sz="1000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Position · Velocity</a:t>
            </a:r>
          </a:p>
          <a:p>
            <a:pPr algn="ctr"/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FireTick</a:t>
            </a:r>
            <a:endParaRPr lang="ko-KR" altLang="en-US" sz="1100" b="1">
              <a:solidFill>
                <a:srgbClr val="FFFFFF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F2226B3-3FD8-FDB3-EB1B-6E7094398C90}"/>
              </a:ext>
            </a:extLst>
          </p:cNvPr>
          <p:cNvCxnSpPr/>
          <p:nvPr/>
        </p:nvCxnSpPr>
        <p:spPr>
          <a:xfrm>
            <a:off x="2331720" y="2253996"/>
            <a:ext cx="301752" cy="0"/>
          </a:xfrm>
          <a:prstGeom prst="line">
            <a:avLst/>
          </a:prstGeom>
          <a:ln w="22225">
            <a:solidFill>
              <a:srgbClr val="6A2C9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타원 7">
            <a:extLst>
              <a:ext uri="{FF2B5EF4-FFF2-40B4-BE49-F238E27FC236}">
                <a16:creationId xmlns:a16="http://schemas.microsoft.com/office/drawing/2014/main" id="{1D5106B2-EBFA-A747-B4BF-C093CEFEC573}"/>
              </a:ext>
            </a:extLst>
          </p:cNvPr>
          <p:cNvSpPr/>
          <p:nvPr/>
        </p:nvSpPr>
        <p:spPr>
          <a:xfrm>
            <a:off x="2697480" y="2194560"/>
            <a:ext cx="118872" cy="118872"/>
          </a:xfrm>
          <a:prstGeom prst="ellipse">
            <a:avLst/>
          </a:prstGeom>
          <a:solidFill>
            <a:srgbClr val="6A2C9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8B241E5-791B-0245-5F5D-0F08B60067F1}"/>
              </a:ext>
            </a:extLst>
          </p:cNvPr>
          <p:cNvSpPr/>
          <p:nvPr/>
        </p:nvSpPr>
        <p:spPr>
          <a:xfrm>
            <a:off x="3044952" y="2194560"/>
            <a:ext cx="118872" cy="118872"/>
          </a:xfrm>
          <a:prstGeom prst="ellipse">
            <a:avLst/>
          </a:prstGeom>
          <a:solidFill>
            <a:srgbClr val="6A2C9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EC4C500-DD01-7C90-864F-A01EBE4F0C16}"/>
              </a:ext>
            </a:extLst>
          </p:cNvPr>
          <p:cNvSpPr/>
          <p:nvPr/>
        </p:nvSpPr>
        <p:spPr>
          <a:xfrm>
            <a:off x="3392424" y="2194560"/>
            <a:ext cx="118872" cy="118872"/>
          </a:xfrm>
          <a:prstGeom prst="ellipse">
            <a:avLst/>
          </a:prstGeom>
          <a:solidFill>
            <a:srgbClr val="6A2C9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73EEB5FA-F00C-C07A-510C-A3DDB8EC2C24}"/>
              </a:ext>
            </a:extLst>
          </p:cNvPr>
          <p:cNvSpPr/>
          <p:nvPr/>
        </p:nvSpPr>
        <p:spPr>
          <a:xfrm>
            <a:off x="3739896" y="2194560"/>
            <a:ext cx="118872" cy="118872"/>
          </a:xfrm>
          <a:prstGeom prst="ellipse">
            <a:avLst/>
          </a:prstGeom>
          <a:solidFill>
            <a:srgbClr val="6A2C9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197D1E0E-C42E-A1E8-6312-3BAF377038C4}"/>
              </a:ext>
            </a:extLst>
          </p:cNvPr>
          <p:cNvSpPr/>
          <p:nvPr/>
        </p:nvSpPr>
        <p:spPr>
          <a:xfrm>
            <a:off x="4087368" y="2226564"/>
            <a:ext cx="118872" cy="118872"/>
          </a:xfrm>
          <a:prstGeom prst="ellipse">
            <a:avLst/>
          </a:prstGeom>
          <a:solidFill>
            <a:srgbClr val="6A2C9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F070147-1C0E-CCAC-A3E3-7258E300A1ED}"/>
              </a:ext>
            </a:extLst>
          </p:cNvPr>
          <p:cNvSpPr/>
          <p:nvPr/>
        </p:nvSpPr>
        <p:spPr>
          <a:xfrm>
            <a:off x="4434840" y="2322576"/>
            <a:ext cx="118872" cy="118872"/>
          </a:xfrm>
          <a:prstGeom prst="ellipse">
            <a:avLst/>
          </a:prstGeom>
          <a:solidFill>
            <a:srgbClr val="6A2C9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8D41AB1-2684-FCCE-EA13-EB9D513DF25F}"/>
              </a:ext>
            </a:extLst>
          </p:cNvPr>
          <p:cNvSpPr/>
          <p:nvPr/>
        </p:nvSpPr>
        <p:spPr>
          <a:xfrm>
            <a:off x="4782312" y="2482596"/>
            <a:ext cx="118872" cy="118872"/>
          </a:xfrm>
          <a:prstGeom prst="ellipse">
            <a:avLst/>
          </a:prstGeom>
          <a:solidFill>
            <a:srgbClr val="6A2C9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24052244-0E8A-710A-0116-460B055F8F7E}"/>
              </a:ext>
            </a:extLst>
          </p:cNvPr>
          <p:cNvSpPr/>
          <p:nvPr/>
        </p:nvSpPr>
        <p:spPr>
          <a:xfrm>
            <a:off x="5129784" y="2706624"/>
            <a:ext cx="118872" cy="118872"/>
          </a:xfrm>
          <a:prstGeom prst="ellipse">
            <a:avLst/>
          </a:prstGeom>
          <a:solidFill>
            <a:srgbClr val="6A2C9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F9159738-8C46-18CB-209A-9297465273E8}"/>
              </a:ext>
            </a:extLst>
          </p:cNvPr>
          <p:cNvSpPr/>
          <p:nvPr/>
        </p:nvSpPr>
        <p:spPr>
          <a:xfrm>
            <a:off x="5431536" y="2948940"/>
            <a:ext cx="210312" cy="210312"/>
          </a:xfrm>
          <a:prstGeom prst="ellipse">
            <a:avLst/>
          </a:prstGeom>
          <a:solidFill>
            <a:srgbClr val="F26B1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18FCE6-82E4-B883-E2C9-76765D02365A}"/>
              </a:ext>
            </a:extLst>
          </p:cNvPr>
          <p:cNvSpPr txBox="1"/>
          <p:nvPr/>
        </p:nvSpPr>
        <p:spPr>
          <a:xfrm>
            <a:off x="2560320" y="2423160"/>
            <a:ext cx="91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0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FireTick</a:t>
            </a:r>
            <a:endParaRPr lang="ko-KR" altLang="en-US" sz="1000" b="1">
              <a:solidFill>
                <a:srgbClr val="6A2C91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5C67E9-FAFD-D738-B6EA-8FAB8032979E}"/>
              </a:ext>
            </a:extLst>
          </p:cNvPr>
          <p:cNvSpPr txBox="1"/>
          <p:nvPr/>
        </p:nvSpPr>
        <p:spPr>
          <a:xfrm>
            <a:off x="2697480" y="1901952"/>
            <a:ext cx="301752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직선 구간  →  낙하 구간 </a:t>
            </a:r>
            <a:r>
              <a:rPr lang="en-US" altLang="ko-KR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중력</a:t>
            </a:r>
            <a:r>
              <a:rPr lang="en-US" altLang="ko-KR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endParaRPr lang="ko-KR" altLang="en-US" sz="1000">
              <a:solidFill>
                <a:srgbClr val="6B647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746918-0B5F-98DE-4066-13DFCD455390}"/>
              </a:ext>
            </a:extLst>
          </p:cNvPr>
          <p:cNvSpPr txBox="1"/>
          <p:nvPr/>
        </p:nvSpPr>
        <p:spPr>
          <a:xfrm>
            <a:off x="4526280" y="2971800"/>
            <a:ext cx="822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ko-KR" altLang="en-US" sz="1000" b="1">
                <a:solidFill>
                  <a:srgbClr val="F26B1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탄착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D44C51-B49D-9417-A40C-14E64505ED23}"/>
              </a:ext>
            </a:extLst>
          </p:cNvPr>
          <p:cNvSpPr txBox="1"/>
          <p:nvPr/>
        </p:nvSpPr>
        <p:spPr>
          <a:xfrm>
            <a:off x="2697480" y="2697480"/>
            <a:ext cx="182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● = 1 Tick</a:t>
            </a:r>
            <a:r>
              <a:rPr lang="ko-KR" altLang="en-US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마다의 위치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CF31445-DF06-D9A1-3CD8-19315BE083F6}"/>
              </a:ext>
            </a:extLst>
          </p:cNvPr>
          <p:cNvSpPr/>
          <p:nvPr/>
        </p:nvSpPr>
        <p:spPr>
          <a:xfrm>
            <a:off x="731520" y="3246120"/>
            <a:ext cx="49377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0" rIns="101600" bIns="0" rtlCol="0" anchor="ctr"/>
          <a:lstStyle/>
          <a:p>
            <a:pPr algn="ctr"/>
            <a:r>
              <a:rPr lang="en-US" altLang="ko-KR" sz="1100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P(tick) = f(FireTick, tick) → </a:t>
            </a:r>
            <a:r>
              <a:rPr lang="ko-KR" altLang="en-US" sz="1100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위치는 매 틱 전송하지 않음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8B06AE7-4EAE-A1C3-A260-8D4B60424423}"/>
              </a:ext>
            </a:extLst>
          </p:cNvPr>
          <p:cNvSpPr/>
          <p:nvPr/>
        </p:nvSpPr>
        <p:spPr>
          <a:xfrm>
            <a:off x="457200" y="3840480"/>
            <a:ext cx="5486400" cy="2560320"/>
          </a:xfrm>
          <a:prstGeom prst="roundRect">
            <a:avLst>
              <a:gd name="adj" fmla="val 6000"/>
            </a:avLst>
          </a:prstGeom>
          <a:solidFill>
            <a:srgbClr val="E7F6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16883C-F2CA-9919-E43B-CCA82A6FF5AF}"/>
              </a:ext>
            </a:extLst>
          </p:cNvPr>
          <p:cNvSpPr txBox="1"/>
          <p:nvPr/>
        </p:nvSpPr>
        <p:spPr>
          <a:xfrm>
            <a:off x="731520" y="3977640"/>
            <a:ext cx="493776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0E9F8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② 탄착 순간   </a:t>
            </a:r>
            <a:r>
              <a:rPr lang="en-US" altLang="ko-KR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Host</a:t>
            </a:r>
            <a:r>
              <a:rPr lang="ko-KR" altLang="en-US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만 판정 → 결과 전파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7F3AE2D-C091-6E7A-0E15-71B70126D234}"/>
              </a:ext>
            </a:extLst>
          </p:cNvPr>
          <p:cNvSpPr/>
          <p:nvPr/>
        </p:nvSpPr>
        <p:spPr>
          <a:xfrm>
            <a:off x="731520" y="4434840"/>
            <a:ext cx="1371600" cy="62179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0E9F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lang="ko-KR" altLang="en-US" sz="11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매 틱 </a:t>
            </a:r>
            <a:r>
              <a:rPr lang="en-US" altLang="ko-KR" sz="11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(Host)</a:t>
            </a:r>
          </a:p>
          <a:p>
            <a:pPr algn="ctr"/>
            <a:r>
              <a:rPr lang="en-US" altLang="ko-KR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FixedUpdateNetwork</a:t>
            </a:r>
            <a:endParaRPr lang="ko-KR" altLang="en-US" sz="1000">
              <a:solidFill>
                <a:srgbClr val="6B647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1526478-E283-E8EC-5DE5-1EB5BC69F3CC}"/>
              </a:ext>
            </a:extLst>
          </p:cNvPr>
          <p:cNvSpPr/>
          <p:nvPr/>
        </p:nvSpPr>
        <p:spPr>
          <a:xfrm>
            <a:off x="2331720" y="4434840"/>
            <a:ext cx="1920240" cy="621792"/>
          </a:xfrm>
          <a:prstGeom prst="roundRect">
            <a:avLst>
              <a:gd name="adj" fmla="val 18000"/>
            </a:avLst>
          </a:prstGeom>
          <a:solidFill>
            <a:srgbClr val="0E9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LagCompensation.Raycast</a:t>
            </a:r>
          </a:p>
          <a:p>
            <a:pPr algn="ctr"/>
            <a:r>
              <a:rPr lang="en-US" altLang="ko-KR" sz="1000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Tick−1 → Tick </a:t>
            </a:r>
            <a:r>
              <a:rPr lang="ko-KR" altLang="en-US" sz="1000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구간 검사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FBEC7F3-E6D7-DCAA-88FD-A82AA0C44726}"/>
              </a:ext>
            </a:extLst>
          </p:cNvPr>
          <p:cNvSpPr/>
          <p:nvPr/>
        </p:nvSpPr>
        <p:spPr>
          <a:xfrm>
            <a:off x="4480560" y="4434840"/>
            <a:ext cx="1188720" cy="62179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0E9F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lang="en-US" altLang="ko-KR" sz="11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OnHit()</a:t>
            </a:r>
          </a:p>
          <a:p>
            <a:pPr algn="ctr"/>
            <a:r>
              <a:rPr lang="ko-KR" altLang="en-US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충돌 지점 확정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88E3A6AA-B7DD-4741-8C20-82C1DA7D81E0}"/>
              </a:ext>
            </a:extLst>
          </p:cNvPr>
          <p:cNvCxnSpPr/>
          <p:nvPr/>
        </p:nvCxnSpPr>
        <p:spPr>
          <a:xfrm>
            <a:off x="2103120" y="4745736"/>
            <a:ext cx="228600" cy="0"/>
          </a:xfrm>
          <a:prstGeom prst="line">
            <a:avLst/>
          </a:prstGeom>
          <a:ln w="22225">
            <a:solidFill>
              <a:srgbClr val="0E9F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47073F0C-D4C8-BB5B-E2AF-4FDD87965D08}"/>
              </a:ext>
            </a:extLst>
          </p:cNvPr>
          <p:cNvCxnSpPr/>
          <p:nvPr/>
        </p:nvCxnSpPr>
        <p:spPr>
          <a:xfrm>
            <a:off x="4251960" y="4745736"/>
            <a:ext cx="228600" cy="0"/>
          </a:xfrm>
          <a:prstGeom prst="line">
            <a:avLst/>
          </a:prstGeom>
          <a:ln w="22225">
            <a:solidFill>
              <a:srgbClr val="0E9F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CE317A49-7955-20FE-17B5-FFD66EBF0A3D}"/>
              </a:ext>
            </a:extLst>
          </p:cNvPr>
          <p:cNvSpPr/>
          <p:nvPr/>
        </p:nvSpPr>
        <p:spPr>
          <a:xfrm>
            <a:off x="731520" y="5239512"/>
            <a:ext cx="1371600" cy="62179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0E9F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lang="en-US" altLang="ko-KR" sz="11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Finish()</a:t>
            </a:r>
          </a:p>
          <a:p>
            <a:pPr algn="ctr"/>
            <a:r>
              <a:rPr lang="en-US" altLang="ko-KR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IsFinished = true</a:t>
            </a:r>
            <a:endParaRPr lang="ko-KR" altLang="en-US" sz="1000">
              <a:solidFill>
                <a:srgbClr val="6B647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4D431F0A-CF84-DDBA-6C14-B251214BB74F}"/>
              </a:ext>
            </a:extLst>
          </p:cNvPr>
          <p:cNvSpPr/>
          <p:nvPr/>
        </p:nvSpPr>
        <p:spPr>
          <a:xfrm>
            <a:off x="2331720" y="5239512"/>
            <a:ext cx="1920240" cy="621792"/>
          </a:xfrm>
          <a:prstGeom prst="roundRect">
            <a:avLst>
              <a:gd name="adj" fmla="val 18000"/>
            </a:avLst>
          </a:prstGeom>
          <a:solidFill>
            <a:srgbClr val="0E9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RPC_OnHit()</a:t>
            </a:r>
          </a:p>
          <a:p>
            <a:pPr algn="ctr"/>
            <a:r>
              <a:rPr lang="ko-KR" altLang="en-US" sz="1000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모든 피어 페인트 </a:t>
            </a:r>
            <a:r>
              <a:rPr lang="en-US" altLang="ko-KR" sz="1000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FX</a:t>
            </a:r>
            <a:endParaRPr lang="ko-KR" altLang="en-US" sz="1000">
              <a:solidFill>
                <a:srgbClr val="FFFFFF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BE63E017-5012-76EB-1CF0-0B27B53EF43D}"/>
              </a:ext>
            </a:extLst>
          </p:cNvPr>
          <p:cNvSpPr/>
          <p:nvPr/>
        </p:nvSpPr>
        <p:spPr>
          <a:xfrm>
            <a:off x="4480560" y="5239512"/>
            <a:ext cx="1188720" cy="62179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0E9F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lang="en-US" altLang="ko-KR" sz="11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TickTimer 0.3s</a:t>
            </a:r>
          </a:p>
          <a:p>
            <a:pPr algn="ctr"/>
            <a:r>
              <a:rPr lang="ko-KR" altLang="en-US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만료 후 </a:t>
            </a:r>
            <a:r>
              <a:rPr lang="en-US" altLang="ko-KR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Despawn</a:t>
            </a:r>
            <a:endParaRPr lang="ko-KR" altLang="en-US" sz="1000">
              <a:solidFill>
                <a:srgbClr val="6B647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A5B6BA0D-AC4A-EB51-7719-C7FA3CFECE3A}"/>
              </a:ext>
            </a:extLst>
          </p:cNvPr>
          <p:cNvCxnSpPr/>
          <p:nvPr/>
        </p:nvCxnSpPr>
        <p:spPr>
          <a:xfrm>
            <a:off x="2103120" y="5550408"/>
            <a:ext cx="228600" cy="0"/>
          </a:xfrm>
          <a:prstGeom prst="line">
            <a:avLst/>
          </a:prstGeom>
          <a:ln w="22225">
            <a:solidFill>
              <a:srgbClr val="0E9F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6A560BF9-8066-4621-C65D-CC9389F00D2D}"/>
              </a:ext>
            </a:extLst>
          </p:cNvPr>
          <p:cNvCxnSpPr/>
          <p:nvPr/>
        </p:nvCxnSpPr>
        <p:spPr>
          <a:xfrm>
            <a:off x="4251960" y="5550408"/>
            <a:ext cx="228600" cy="0"/>
          </a:xfrm>
          <a:prstGeom prst="line">
            <a:avLst/>
          </a:prstGeom>
          <a:ln w="22225">
            <a:solidFill>
              <a:srgbClr val="0E9F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47A197DB-E8CE-7325-523A-1D5156A8DDE4}"/>
              </a:ext>
            </a:extLst>
          </p:cNvPr>
          <p:cNvSpPr/>
          <p:nvPr/>
        </p:nvSpPr>
        <p:spPr>
          <a:xfrm>
            <a:off x="731520" y="5971032"/>
            <a:ext cx="4937760" cy="329184"/>
          </a:xfrm>
          <a:prstGeom prst="roundRect">
            <a:avLst>
              <a:gd name="adj" fmla="val 50000"/>
            </a:avLst>
          </a:prstGeom>
          <a:solidFill>
            <a:srgbClr val="0E9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0" rIns="101600" bIns="0" rtlCol="0" anchor="ctr"/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✓ </a:t>
            </a:r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Client</a:t>
            </a:r>
            <a:r>
              <a:rPr lang="ko-KR" altLang="en-US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</a:t>
            </a:r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Render()</a:t>
            </a:r>
            <a:r>
              <a:rPr lang="ko-KR" altLang="en-US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에서 보간 이동 </a:t>
            </a:r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IsFinished</a:t>
            </a:r>
            <a:r>
              <a:rPr lang="ko-KR" altLang="en-US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면 즉시 숨김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43A183E9-4163-9404-181E-2929A084C863}"/>
              </a:ext>
            </a:extLst>
          </p:cNvPr>
          <p:cNvSpPr/>
          <p:nvPr/>
        </p:nvSpPr>
        <p:spPr>
          <a:xfrm>
            <a:off x="6400800" y="1371600"/>
            <a:ext cx="384048" cy="384048"/>
          </a:xfrm>
          <a:prstGeom prst="ellipse">
            <a:avLst/>
          </a:prstGeom>
          <a:solidFill>
            <a:srgbClr val="6A2C9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F74BAA-BDD0-D015-497A-E0B8EA80E847}"/>
              </a:ext>
            </a:extLst>
          </p:cNvPr>
          <p:cNvSpPr txBox="1"/>
          <p:nvPr/>
        </p:nvSpPr>
        <p:spPr>
          <a:xfrm>
            <a:off x="6949440" y="1389888"/>
            <a:ext cx="475488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발사 순간만 동기화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D2D2562-C922-3F5F-D8AF-B29FBA5813AB}"/>
              </a:ext>
            </a:extLst>
          </p:cNvPr>
          <p:cNvSpPr txBox="1"/>
          <p:nvPr/>
        </p:nvSpPr>
        <p:spPr>
          <a:xfrm>
            <a:off x="6949440" y="1828800"/>
            <a:ext cx="47548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Initialize()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에서 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Position · Velocity · FireTick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을</a:t>
            </a:r>
            <a:b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[Networked] 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구조체에 한 번만 기록한다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b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이후 위치는 네트워크로 보내지 않는다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1F1A2E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16D95827-E22D-152B-9841-7B3FCCADD56B}"/>
              </a:ext>
            </a:extLst>
          </p:cNvPr>
          <p:cNvSpPr/>
          <p:nvPr/>
        </p:nvSpPr>
        <p:spPr>
          <a:xfrm>
            <a:off x="6400800" y="2834640"/>
            <a:ext cx="384048" cy="384048"/>
          </a:xfrm>
          <a:prstGeom prst="ellipse">
            <a:avLst/>
          </a:prstGeom>
          <a:solidFill>
            <a:srgbClr val="0E9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7A3952C-1230-5358-C9DD-A1DB724C2674}"/>
              </a:ext>
            </a:extLst>
          </p:cNvPr>
          <p:cNvSpPr txBox="1"/>
          <p:nvPr/>
        </p:nvSpPr>
        <p:spPr>
          <a:xfrm>
            <a:off x="6949440" y="2852928"/>
            <a:ext cx="475488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b="1">
                <a:solidFill>
                  <a:srgbClr val="0E9F8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궤적은 </a:t>
            </a:r>
            <a:r>
              <a:rPr lang="en-US" altLang="ko-KR" b="1">
                <a:solidFill>
                  <a:srgbClr val="0E9F8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Tick</a:t>
            </a:r>
            <a:r>
              <a:rPr lang="ko-KR" altLang="en-US" b="1">
                <a:solidFill>
                  <a:srgbClr val="0E9F8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으로 계산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E0B7FC1-7854-BA05-DA07-524788065CFC}"/>
              </a:ext>
            </a:extLst>
          </p:cNvPr>
          <p:cNvSpPr txBox="1"/>
          <p:nvPr/>
        </p:nvSpPr>
        <p:spPr>
          <a:xfrm>
            <a:off x="6949440" y="3291840"/>
            <a:ext cx="47548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경과 시간 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 = (Tick − FireTick) × DeltaTime.</a:t>
            </a:r>
            <a:b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직선 구간 뒤 중력 포물선 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입력이 같으니</a:t>
            </a:r>
            <a:b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모든 피어가 같은 위치를 얻는다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1F1A2E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DA24E421-C4C9-F1F6-99B2-1E4BF24461AF}"/>
              </a:ext>
            </a:extLst>
          </p:cNvPr>
          <p:cNvSpPr/>
          <p:nvPr/>
        </p:nvSpPr>
        <p:spPr>
          <a:xfrm>
            <a:off x="6400800" y="4297680"/>
            <a:ext cx="384048" cy="384048"/>
          </a:xfrm>
          <a:prstGeom prst="ellipse">
            <a:avLst/>
          </a:prstGeom>
          <a:solidFill>
            <a:srgbClr val="F26B1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3</a:t>
            </a:r>
            <a:endParaRPr lang="ko-KR" altLang="en-US" sz="14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A960441-82DB-1A22-3533-CB3194EA1885}"/>
              </a:ext>
            </a:extLst>
          </p:cNvPr>
          <p:cNvSpPr txBox="1"/>
          <p:nvPr/>
        </p:nvSpPr>
        <p:spPr>
          <a:xfrm>
            <a:off x="6949440" y="4315968"/>
            <a:ext cx="475488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b="1">
                <a:solidFill>
                  <a:srgbClr val="F26B1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탄착 순간은 </a:t>
            </a:r>
            <a:r>
              <a:rPr lang="en-US" altLang="ko-KR" b="1">
                <a:solidFill>
                  <a:srgbClr val="F26B1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Host</a:t>
            </a:r>
            <a:r>
              <a:rPr lang="ko-KR" altLang="en-US" b="1">
                <a:solidFill>
                  <a:srgbClr val="F26B1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 확정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4593ED9-FE74-AA2D-C5E5-BFA97E73C281}"/>
              </a:ext>
            </a:extLst>
          </p:cNvPr>
          <p:cNvSpPr txBox="1"/>
          <p:nvPr/>
        </p:nvSpPr>
        <p:spPr>
          <a:xfrm>
            <a:off x="6949440" y="4754880"/>
            <a:ext cx="47548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177800" indent="-177800">
              <a:spcAft>
                <a:spcPts val="600"/>
              </a:spcAft>
              <a:buClr>
                <a:srgbClr val="F26B1D"/>
              </a:buClr>
              <a:buFont typeface="+mj-lt"/>
              <a:buChar char="•"/>
            </a:pP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Tick−1 → Tick 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구간 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Raycast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빠른 탄도 관통 방지</a:t>
            </a:r>
          </a:p>
          <a:p>
            <a:pPr marL="177800" indent="-177800">
              <a:spcAft>
                <a:spcPts val="600"/>
              </a:spcAft>
              <a:buClr>
                <a:srgbClr val="F26B1D"/>
              </a:buClr>
              <a:buFont typeface="+mj-lt"/>
              <a:buChar char="•"/>
            </a:pP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LagCompensation → 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쏜 사람 화면 기준으로 판정</a:t>
            </a:r>
          </a:p>
          <a:p>
            <a:pPr marL="177800" indent="-177800">
              <a:spcAft>
                <a:spcPts val="600"/>
              </a:spcAft>
              <a:buClr>
                <a:srgbClr val="F26B1D"/>
              </a:buClr>
              <a:buFont typeface="+mj-lt"/>
              <a:buChar char="•"/>
            </a:pP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RPC_OnHit → 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모든 피어가 같은 지점에 페인트</a:t>
            </a:r>
          </a:p>
          <a:p>
            <a:pPr marL="177800" indent="-177800">
              <a:spcAft>
                <a:spcPts val="600"/>
              </a:spcAft>
              <a:buClr>
                <a:srgbClr val="F26B1D"/>
              </a:buClr>
              <a:buFont typeface="+mj-lt"/>
              <a:buChar char="•"/>
            </a:pP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Despawn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은 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0.3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초 뒤 → 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RPC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보다 먼저 사라지지 않음</a:t>
            </a:r>
          </a:p>
        </p:txBody>
      </p:sp>
    </p:spTree>
    <p:extLst>
      <p:ext uri="{BB962C8B-B14F-4D97-AF65-F5344CB8AC3E}">
        <p14:creationId xmlns:p14="http://schemas.microsoft.com/office/powerpoint/2010/main" val="3704309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20DED7-2B04-F6CF-F52F-DFCC393217AB}"/>
              </a:ext>
            </a:extLst>
          </p:cNvPr>
          <p:cNvSpPr txBox="1"/>
          <p:nvPr/>
        </p:nvSpPr>
        <p:spPr>
          <a:xfrm>
            <a:off x="457200" y="320040"/>
            <a:ext cx="1124712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32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Tick </a:t>
            </a:r>
            <a:r>
              <a:rPr lang="ko-KR" altLang="en-US" sz="32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기반 투사체 동기화 </a:t>
            </a:r>
            <a:r>
              <a:rPr lang="en-US" altLang="ko-KR" sz="32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32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코드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B78A62-D51E-BCBF-2F43-038E0890DFB2}"/>
              </a:ext>
            </a:extLst>
          </p:cNvPr>
          <p:cNvSpPr txBox="1"/>
          <p:nvPr/>
        </p:nvSpPr>
        <p:spPr>
          <a:xfrm>
            <a:off x="457200" y="896112"/>
            <a:ext cx="1124712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NetworkInkProjectile.cs   (</a:t>
            </a:r>
            <a:r>
              <a:rPr lang="ko-KR" altLang="en-US" sz="14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주황색 </a:t>
            </a:r>
            <a:r>
              <a:rPr lang="en-US" altLang="ko-KR" sz="14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핵심 부분</a:t>
            </a:r>
            <a:r>
              <a:rPr lang="en-US" altLang="ko-KR" sz="14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endParaRPr lang="ko-KR" altLang="en-US" sz="1400">
              <a:solidFill>
                <a:srgbClr val="6B647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67C7495-ED88-B238-D520-BBCEC1E2ACCE}"/>
              </a:ext>
            </a:extLst>
          </p:cNvPr>
          <p:cNvSpPr/>
          <p:nvPr/>
        </p:nvSpPr>
        <p:spPr>
          <a:xfrm>
            <a:off x="365760" y="1325880"/>
            <a:ext cx="5623560" cy="5120640"/>
          </a:xfrm>
          <a:prstGeom prst="roundRect">
            <a:avLst>
              <a:gd name="adj" fmla="val 4000"/>
            </a:avLst>
          </a:prstGeom>
          <a:solidFill>
            <a:srgbClr val="F3F1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3D6EDE-10DF-CB55-3D4D-18DB0E9258E8}"/>
              </a:ext>
            </a:extLst>
          </p:cNvPr>
          <p:cNvSpPr txBox="1"/>
          <p:nvPr/>
        </p:nvSpPr>
        <p:spPr>
          <a:xfrm>
            <a:off x="548640" y="1399032"/>
            <a:ext cx="493776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① 발사 순간 </a:t>
            </a:r>
            <a:r>
              <a:rPr lang="en-US" altLang="ko-KR" sz="1500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&amp; </a:t>
            </a:r>
            <a:r>
              <a:rPr lang="ko-KR" altLang="en-US" sz="1500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궤적 계산   </a:t>
            </a:r>
            <a:r>
              <a:rPr lang="en-US" altLang="ko-KR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Initialize() · GetMovePosition()</a:t>
            </a:r>
            <a:endParaRPr lang="ko-KR" altLang="en-US" sz="1100">
              <a:solidFill>
                <a:srgbClr val="6B647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953F8E6-851D-B117-98E2-5A5A1E803B64}"/>
              </a:ext>
            </a:extLst>
          </p:cNvPr>
          <p:cNvSpPr/>
          <p:nvPr/>
        </p:nvSpPr>
        <p:spPr>
          <a:xfrm>
            <a:off x="484632" y="1783080"/>
            <a:ext cx="5385816" cy="416052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7000" tIns="76200" rIns="76200" bIns="76200" rtlCol="0" anchor="t"/>
          <a:lstStyle/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// Initialize(): </a:t>
            </a:r>
            <a:r>
              <a:rPr lang="ko-KR" altLang="en-US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발사 순간 한 번만 </a:t>
            </a:r>
            <a:r>
              <a:rPr lang="en-US" altLang="ko-KR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[Networked] </a:t>
            </a:r>
            <a:r>
              <a:rPr lang="ko-KR" altLang="en-US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구조체에 기록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_data =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new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</a:t>
            </a:r>
            <a:r>
              <a:rPr lang="en-US" altLang="ko-KR" sz="1000">
                <a:solidFill>
                  <a:srgbClr val="4EC9B0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InkProjectileData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Position = position,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Velocity = velocity,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</a:t>
            </a:r>
            <a:r>
              <a:rPr lang="en-US" altLang="ko-KR" sz="1000" b="1">
                <a:solidFill>
                  <a:srgbClr val="FFB86C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FireTick = Runner.Tick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,          </a:t>
            </a:r>
            <a:r>
              <a:rPr lang="en-US" altLang="ko-KR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// </a:t>
            </a:r>
            <a:r>
              <a:rPr lang="ko-KR" altLang="en-US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발사 순간의 </a:t>
            </a:r>
            <a:r>
              <a:rPr lang="en-US" altLang="ko-KR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Tick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IsFinished = false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};</a:t>
            </a:r>
          </a:p>
          <a:p>
            <a:pPr>
              <a:lnSpc>
                <a:spcPct val="90000"/>
              </a:lnSpc>
            </a:pPr>
            <a:endParaRPr lang="en-US" altLang="ko-KR" sz="1000">
              <a:solidFill>
                <a:srgbClr val="D4D4D4"/>
              </a:solidFill>
              <a:latin typeface="Consolas" panose="020B0609020204030204" pitchFamily="49" charset="0"/>
              <a:ea typeface="Malgun Gothic" panose="020B0503020000020004" pitchFamily="50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// </a:t>
            </a:r>
            <a:r>
              <a:rPr lang="ko-KR" altLang="en-US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모든 피어가 같은 식으로 계산 → 위치는 전송하지 않음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4EC9B0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Vector3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GetMovePosition(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float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tick)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float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time = </a:t>
            </a:r>
            <a:r>
              <a:rPr lang="en-US" altLang="ko-KR" sz="1000" b="1">
                <a:solidFill>
                  <a:srgbClr val="FFB86C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(tick - _data.FireTick) * Runner.DeltaTime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if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(time &lt;= 0f)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return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_data.Position;</a:t>
            </a:r>
          </a:p>
          <a:p>
            <a:pPr>
              <a:lnSpc>
                <a:spcPct val="90000"/>
              </a:lnSpc>
            </a:pPr>
            <a:endParaRPr lang="en-US" altLang="ko-KR" sz="1000">
              <a:solidFill>
                <a:srgbClr val="D4D4D4"/>
              </a:solidFill>
              <a:latin typeface="Consolas" panose="020B0609020204030204" pitchFamily="49" charset="0"/>
              <a:ea typeface="Malgun Gothic" panose="020B0503020000020004" pitchFamily="50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float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straightDuration = GetStraightDuration();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if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(time &lt;= straightDuration)                    </a:t>
            </a:r>
            <a:r>
              <a:rPr lang="en-US" altLang="ko-KR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// </a:t>
            </a:r>
            <a:r>
              <a:rPr lang="ko-KR" altLang="en-US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직선 구간</a:t>
            </a:r>
          </a:p>
          <a:p>
            <a:pPr>
              <a:lnSpc>
                <a:spcPct val="90000"/>
              </a:lnSpc>
            </a:pPr>
            <a:r>
              <a:rPr lang="ko-KR" altLang="en-US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   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return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_data.Position + _data.Velocity * time;</a:t>
            </a:r>
          </a:p>
          <a:p>
            <a:pPr>
              <a:lnSpc>
                <a:spcPct val="90000"/>
              </a:lnSpc>
            </a:pPr>
            <a:endParaRPr lang="en-US" altLang="ko-KR" sz="1000">
              <a:solidFill>
                <a:srgbClr val="D4D4D4"/>
              </a:solidFill>
              <a:latin typeface="Consolas" panose="020B0609020204030204" pitchFamily="49" charset="0"/>
              <a:ea typeface="Malgun Gothic" panose="020B0503020000020004" pitchFamily="50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</a:t>
            </a:r>
            <a:r>
              <a:rPr lang="en-US" altLang="ko-KR" sz="1000">
                <a:solidFill>
                  <a:srgbClr val="4EC9B0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Vector3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straightEndPos =                         </a:t>
            </a:r>
            <a:r>
              <a:rPr lang="en-US" altLang="ko-KR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// </a:t>
            </a:r>
            <a:r>
              <a:rPr lang="ko-KR" altLang="en-US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낙하 구간</a:t>
            </a:r>
          </a:p>
          <a:p>
            <a:pPr>
              <a:lnSpc>
                <a:spcPct val="90000"/>
              </a:lnSpc>
            </a:pPr>
            <a:r>
              <a:rPr lang="ko-KR" altLang="en-US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    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_data.Position + _data.Velocity * straightDuration;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float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fallTime = time - straightDuration;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return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straightEndPos + _data.Velocity * fallTime +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   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new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</a:t>
            </a:r>
            <a:r>
              <a:rPr lang="en-US" altLang="ko-KR" sz="1000">
                <a:solidFill>
                  <a:srgbClr val="4EC9B0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Vector3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(0f, -_netGravity, 0f) * (fallTime * fallTime * 0.5f);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}</a:t>
            </a:r>
            <a:endParaRPr lang="ko-KR" altLang="en-US" sz="1000">
              <a:solidFill>
                <a:srgbClr val="D4D4D4"/>
              </a:solidFill>
              <a:latin typeface="Consolas" panose="020B0609020204030204" pitchFamily="49" charset="0"/>
              <a:ea typeface="Malgun Gothic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1499251-5F9B-5595-050C-CB205F8826B3}"/>
              </a:ext>
            </a:extLst>
          </p:cNvPr>
          <p:cNvSpPr/>
          <p:nvPr/>
        </p:nvSpPr>
        <p:spPr>
          <a:xfrm>
            <a:off x="484632" y="6035040"/>
            <a:ext cx="5385816" cy="329184"/>
          </a:xfrm>
          <a:prstGeom prst="roundRect">
            <a:avLst>
              <a:gd name="adj" fmla="val 50000"/>
            </a:avLst>
          </a:prstGeom>
          <a:solidFill>
            <a:srgbClr val="6A2C9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0" rIns="101600" bIns="0" rtlCol="0" anchor="ctr"/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발사 시 </a:t>
            </a:r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Position · Velocity · FireTick</a:t>
            </a:r>
            <a:r>
              <a:rPr lang="ko-KR" altLang="en-US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만 동기화 → 위치는 각자 계산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CCFFA4B-8814-FB54-C107-E049C7EB92C0}"/>
              </a:ext>
            </a:extLst>
          </p:cNvPr>
          <p:cNvSpPr/>
          <p:nvPr/>
        </p:nvSpPr>
        <p:spPr>
          <a:xfrm>
            <a:off x="6199632" y="1325880"/>
            <a:ext cx="5623560" cy="5120640"/>
          </a:xfrm>
          <a:prstGeom prst="roundRect">
            <a:avLst>
              <a:gd name="adj" fmla="val 4000"/>
            </a:avLst>
          </a:prstGeom>
          <a:solidFill>
            <a:srgbClr val="E7F6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9C1855-F2B5-B1CB-7971-C12E5A2A7C11}"/>
              </a:ext>
            </a:extLst>
          </p:cNvPr>
          <p:cNvSpPr txBox="1"/>
          <p:nvPr/>
        </p:nvSpPr>
        <p:spPr>
          <a:xfrm>
            <a:off x="6382512" y="1399032"/>
            <a:ext cx="493776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0E9F8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② 탄착 순간   </a:t>
            </a:r>
            <a:r>
              <a:rPr lang="en-US" altLang="ko-KR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FixedUpdateNetwork() · OnHit() · Finish()</a:t>
            </a:r>
            <a:endParaRPr lang="ko-KR" altLang="en-US" sz="1100">
              <a:solidFill>
                <a:srgbClr val="6B647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7CBE8B2-9AFD-EBAA-D9B2-4B631E6E8C7A}"/>
              </a:ext>
            </a:extLst>
          </p:cNvPr>
          <p:cNvSpPr/>
          <p:nvPr/>
        </p:nvSpPr>
        <p:spPr>
          <a:xfrm>
            <a:off x="6318504" y="1783080"/>
            <a:ext cx="5385816" cy="416052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7000" tIns="76200" rIns="76200" bIns="76200" rtlCol="0" anchor="t"/>
          <a:lstStyle/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public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override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void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FixedUpdateNetwork()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if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(!</a:t>
            </a:r>
            <a:r>
              <a:rPr lang="en-US" altLang="ko-KR" sz="1000" b="1">
                <a:solidFill>
                  <a:srgbClr val="FFB86C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HasStateAuthority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)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return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;              </a:t>
            </a:r>
            <a:r>
              <a:rPr lang="en-US" altLang="ko-KR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// </a:t>
            </a:r>
            <a:r>
              <a:rPr lang="ko-KR" altLang="en-US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판정은 </a:t>
            </a:r>
            <a:r>
              <a:rPr lang="en-US" altLang="ko-KR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Host</a:t>
            </a:r>
            <a:r>
              <a:rPr lang="ko-KR" altLang="en-US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만</a:t>
            </a:r>
          </a:p>
          <a:p>
            <a:pPr>
              <a:lnSpc>
                <a:spcPct val="90000"/>
              </a:lnSpc>
            </a:pPr>
            <a:r>
              <a:rPr lang="ko-KR" altLang="en-US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if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(_data.IsFinished)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{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   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if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(_despawnTimer.Expired(Runner)) Runner.Despawn(Object);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   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return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}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</a:t>
            </a:r>
            <a:r>
              <a:rPr lang="en-US" altLang="ko-KR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// </a:t>
            </a:r>
            <a:r>
              <a:rPr lang="ko-KR" altLang="en-US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이전 </a:t>
            </a:r>
            <a:r>
              <a:rPr lang="en-US" altLang="ko-KR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Tick → </a:t>
            </a:r>
            <a:r>
              <a:rPr lang="ko-KR" altLang="en-US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현재 </a:t>
            </a:r>
            <a:r>
              <a:rPr lang="en-US" altLang="ko-KR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Tick </a:t>
            </a:r>
            <a:r>
              <a:rPr lang="ko-KR" altLang="en-US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구간 전체를 레이캐스트</a:t>
            </a:r>
          </a:p>
          <a:p>
            <a:pPr>
              <a:lnSpc>
                <a:spcPct val="90000"/>
              </a:lnSpc>
            </a:pPr>
            <a:r>
              <a:rPr lang="ko-KR" altLang="en-US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var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previousPos = GetMovePosition(</a:t>
            </a:r>
            <a:r>
              <a:rPr lang="en-US" altLang="ko-KR" sz="1000" b="1">
                <a:solidFill>
                  <a:srgbClr val="FFB86C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Runner.Tick - 1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);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var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nextPos     = </a:t>
            </a:r>
            <a:r>
              <a:rPr lang="en-US" altLang="ko-KR" sz="1000" b="1">
                <a:solidFill>
                  <a:srgbClr val="FFB86C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GetMovePosition(Runner.Tick)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...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if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(Runner.</a:t>
            </a:r>
            <a:r>
              <a:rPr lang="en-US" altLang="ko-KR" sz="1000" b="1">
                <a:solidFill>
                  <a:srgbClr val="FFB86C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LagCompensation.Raycast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(previousPos, dir, distance, ...))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    OnHit(...);               </a:t>
            </a:r>
            <a:r>
              <a:rPr lang="en-US" altLang="ko-KR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// </a:t>
            </a:r>
            <a:r>
              <a:rPr lang="ko-KR" altLang="en-US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적이면 피격</a:t>
            </a:r>
            <a:r>
              <a:rPr lang="en-US" altLang="ko-KR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, </a:t>
            </a:r>
            <a:r>
              <a:rPr lang="ko-KR" altLang="en-US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아니면 벽에 페인트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}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void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OnHit(</a:t>
            </a:r>
            <a:r>
              <a:rPr lang="en-US" altLang="ko-KR" sz="1000">
                <a:solidFill>
                  <a:srgbClr val="4EC9B0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Vector3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point, </a:t>
            </a:r>
            <a:r>
              <a:rPr lang="en-US" altLang="ko-KR" sz="1000">
                <a:solidFill>
                  <a:srgbClr val="4EC9B0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Vector3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normal, bool isEnemyHit, int layer)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Finish();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</a:t>
            </a:r>
            <a:r>
              <a:rPr lang="en-US" altLang="ko-KR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// ImpactPosition · ImpactNormal · PaintRadius </a:t>
            </a:r>
            <a:r>
              <a:rPr lang="ko-KR" altLang="en-US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기록 후</a:t>
            </a:r>
          </a:p>
          <a:p>
            <a:pPr>
              <a:lnSpc>
                <a:spcPct val="90000"/>
              </a:lnSpc>
            </a:pPr>
            <a:r>
              <a:rPr lang="ko-KR" altLang="en-US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</a:t>
            </a:r>
            <a:r>
              <a:rPr lang="en-US" altLang="ko-KR" sz="1000" b="1">
                <a:solidFill>
                  <a:srgbClr val="FFB86C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RPC_OnHit(point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, normal, _inkColor, data.PaintRadius, layer);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}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void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Finish()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var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data = _data; data.IsFinished = true; _data = data;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_despawnTimer = </a:t>
            </a:r>
            <a:r>
              <a:rPr lang="en-US" altLang="ko-KR" sz="1000" b="1">
                <a:solidFill>
                  <a:srgbClr val="FFB86C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TickTimer.CreateFromSeconds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(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    Runner, DESPAWN_DELAY_SEC);            </a:t>
            </a:r>
            <a:r>
              <a:rPr lang="en-US" altLang="ko-KR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// 0.3</a:t>
            </a:r>
            <a:r>
              <a:rPr lang="ko-KR" altLang="en-US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초 뒤 </a:t>
            </a:r>
            <a:r>
              <a:rPr lang="en-US" altLang="ko-KR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Despawn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}</a:t>
            </a:r>
            <a:endParaRPr lang="ko-KR" altLang="en-US" sz="1000">
              <a:solidFill>
                <a:srgbClr val="D4D4D4"/>
              </a:solidFill>
              <a:latin typeface="Consolas" panose="020B0609020204030204" pitchFamily="49" charset="0"/>
              <a:ea typeface="Malgun Gothic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B1BFAFE-8851-994F-7185-EA66AAD8D2AE}"/>
              </a:ext>
            </a:extLst>
          </p:cNvPr>
          <p:cNvSpPr/>
          <p:nvPr/>
        </p:nvSpPr>
        <p:spPr>
          <a:xfrm>
            <a:off x="6318504" y="6035040"/>
            <a:ext cx="5385816" cy="329184"/>
          </a:xfrm>
          <a:prstGeom prst="roundRect">
            <a:avLst>
              <a:gd name="adj" fmla="val 50000"/>
            </a:avLst>
          </a:prstGeom>
          <a:solidFill>
            <a:srgbClr val="0E9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0" rIns="101600" bIns="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Host</a:t>
            </a:r>
            <a:r>
              <a:rPr lang="ko-KR" altLang="en-US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만 판정 </a:t>
            </a:r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0.3</a:t>
            </a:r>
            <a:r>
              <a:rPr lang="ko-KR" altLang="en-US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초 뒤 </a:t>
            </a:r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Despawn</a:t>
            </a:r>
            <a:r>
              <a:rPr lang="ko-KR" altLang="en-US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으로 </a:t>
            </a:r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RPC </a:t>
            </a:r>
            <a:r>
              <a:rPr lang="ko-KR" altLang="en-US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도착 보장</a:t>
            </a:r>
          </a:p>
        </p:txBody>
      </p:sp>
    </p:spTree>
    <p:extLst>
      <p:ext uri="{BB962C8B-B14F-4D97-AF65-F5344CB8AC3E}">
        <p14:creationId xmlns:p14="http://schemas.microsoft.com/office/powerpoint/2010/main" val="2838397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94904D-A208-E543-52A1-6366F3940C08}"/>
              </a:ext>
            </a:extLst>
          </p:cNvPr>
          <p:cNvSpPr txBox="1"/>
          <p:nvPr/>
        </p:nvSpPr>
        <p:spPr>
          <a:xfrm>
            <a:off x="457200" y="320040"/>
            <a:ext cx="1124712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32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캐릭터 옷 갈아입기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D9036B-E4C9-C56C-276F-42890C9595CA}"/>
              </a:ext>
            </a:extLst>
          </p:cNvPr>
          <p:cNvSpPr txBox="1"/>
          <p:nvPr/>
        </p:nvSpPr>
        <p:spPr>
          <a:xfrm>
            <a:off x="457200" y="896112"/>
            <a:ext cx="1124712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CharacterClothChanger — </a:t>
            </a:r>
            <a:r>
              <a:rPr lang="ko-KR" altLang="en-US" sz="14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옷 프리팹의 뼈대를 캐릭터 뼈대로 바꿔 끼우는 본 리매핑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815BD09-08DF-F0E8-5513-D287FD799724}"/>
              </a:ext>
            </a:extLst>
          </p:cNvPr>
          <p:cNvSpPr/>
          <p:nvPr/>
        </p:nvSpPr>
        <p:spPr>
          <a:xfrm>
            <a:off x="457200" y="1371600"/>
            <a:ext cx="5486400" cy="2331720"/>
          </a:xfrm>
          <a:prstGeom prst="roundRect">
            <a:avLst>
              <a:gd name="adj" fmla="val 6000"/>
            </a:avLst>
          </a:prstGeom>
          <a:solidFill>
            <a:srgbClr val="F3F1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9EA8F2-D88A-5D40-3E6C-48842F80BC1F}"/>
              </a:ext>
            </a:extLst>
          </p:cNvPr>
          <p:cNvSpPr txBox="1"/>
          <p:nvPr/>
        </p:nvSpPr>
        <p:spPr>
          <a:xfrm>
            <a:off x="731520" y="1508760"/>
            <a:ext cx="493776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① 장착 흐름   </a:t>
            </a:r>
            <a:r>
              <a:rPr lang="en-US" altLang="ko-KR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ItemSlotUI → SetCustomization()</a:t>
            </a:r>
            <a:endParaRPr lang="ko-KR" altLang="en-US" sz="1100">
              <a:solidFill>
                <a:srgbClr val="6B647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5C1C26A-73F5-C6EC-BEB8-B6C80EDF1D32}"/>
              </a:ext>
            </a:extLst>
          </p:cNvPr>
          <p:cNvSpPr/>
          <p:nvPr/>
        </p:nvSpPr>
        <p:spPr>
          <a:xfrm>
            <a:off x="731520" y="2011680"/>
            <a:ext cx="1097280" cy="685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8A82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lang="en-US" altLang="ko-KR" sz="11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SetItem()</a:t>
            </a:r>
          </a:p>
          <a:p>
            <a:pPr algn="ctr"/>
            <a:r>
              <a:rPr lang="ko-KR" altLang="en-US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슬롯 클릭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FF25E7E-E3BA-B12A-EE4E-4502AE77453D}"/>
              </a:ext>
            </a:extLst>
          </p:cNvPr>
          <p:cNvSpPr/>
          <p:nvPr/>
        </p:nvSpPr>
        <p:spPr>
          <a:xfrm>
            <a:off x="2103120" y="2011680"/>
            <a:ext cx="1828800" cy="685800"/>
          </a:xfrm>
          <a:prstGeom prst="roundRect">
            <a:avLst>
              <a:gd name="adj" fmla="val 18000"/>
            </a:avLst>
          </a:prstGeom>
          <a:solidFill>
            <a:srgbClr val="6A2C9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PlayerCustomization</a:t>
            </a:r>
          </a:p>
          <a:p>
            <a:pPr algn="ctr"/>
            <a:r>
              <a:rPr lang="ko-KR" altLang="en-US" sz="1000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부위별 </a:t>
            </a:r>
            <a:r>
              <a:rPr lang="en-US" altLang="ko-KR" sz="1000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enum </a:t>
            </a:r>
            <a:r>
              <a:rPr lang="ko-KR" altLang="en-US" sz="1000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저장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1A9EA5D-9AF3-A9E7-8674-B5E2CE549A07}"/>
              </a:ext>
            </a:extLst>
          </p:cNvPr>
          <p:cNvSpPr/>
          <p:nvPr/>
        </p:nvSpPr>
        <p:spPr>
          <a:xfrm>
            <a:off x="4206240" y="2011680"/>
            <a:ext cx="1463040" cy="685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8A82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lang="en-US" altLang="ko-KR" sz="11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SetCustomization()</a:t>
            </a:r>
          </a:p>
          <a:p>
            <a:pPr algn="ctr"/>
            <a:r>
              <a:rPr lang="ko-KR" altLang="en-US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전부 지우고 재장착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66B65F2-986C-3DBA-B41B-37F982775FE0}"/>
              </a:ext>
            </a:extLst>
          </p:cNvPr>
          <p:cNvCxnSpPr/>
          <p:nvPr/>
        </p:nvCxnSpPr>
        <p:spPr>
          <a:xfrm>
            <a:off x="1828800" y="2354580"/>
            <a:ext cx="274320" cy="0"/>
          </a:xfrm>
          <a:prstGeom prst="line">
            <a:avLst/>
          </a:prstGeom>
          <a:ln w="22225">
            <a:solidFill>
              <a:srgbClr val="8A82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EDD7929-7CBE-9BE8-7DA7-270EE2AE0D58}"/>
              </a:ext>
            </a:extLst>
          </p:cNvPr>
          <p:cNvCxnSpPr/>
          <p:nvPr/>
        </p:nvCxnSpPr>
        <p:spPr>
          <a:xfrm>
            <a:off x="3931920" y="2354580"/>
            <a:ext cx="274320" cy="0"/>
          </a:xfrm>
          <a:prstGeom prst="line">
            <a:avLst/>
          </a:prstGeom>
          <a:ln w="22225">
            <a:solidFill>
              <a:srgbClr val="8A82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7065776-ADCC-097E-D442-99819F7B85B7}"/>
              </a:ext>
            </a:extLst>
          </p:cNvPr>
          <p:cNvSpPr txBox="1"/>
          <p:nvPr/>
        </p:nvSpPr>
        <p:spPr>
          <a:xfrm>
            <a:off x="731520" y="2788920"/>
            <a:ext cx="49377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Resources.Load("Object/Customizing/{</a:t>
            </a:r>
            <a:r>
              <a:rPr lang="ko-KR" altLang="en-US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부위</a:t>
            </a:r>
            <a:r>
              <a:rPr lang="en-US" altLang="ko-KR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}/{</a:t>
            </a:r>
            <a:r>
              <a:rPr lang="ko-KR" altLang="en-US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이름</a:t>
            </a:r>
            <a:r>
              <a:rPr lang="en-US" altLang="ko-KR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}")</a:t>
            </a:r>
            <a:r>
              <a:rPr lang="ko-KR" altLang="en-US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프리팹 로드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B6DAE7E-5AB7-6600-9CD7-1190337CC3E4}"/>
              </a:ext>
            </a:extLst>
          </p:cNvPr>
          <p:cNvSpPr/>
          <p:nvPr/>
        </p:nvSpPr>
        <p:spPr>
          <a:xfrm>
            <a:off x="731520" y="3154680"/>
            <a:ext cx="49377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0" rIns="101600" bIns="0" rtlCol="0" anchor="ctr"/>
          <a:lstStyle/>
          <a:p>
            <a:pPr algn="ctr"/>
            <a:r>
              <a:rPr lang="ko-KR" altLang="en-US" sz="1100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머리 </a:t>
            </a:r>
            <a:r>
              <a:rPr lang="en-US" altLang="ko-KR" sz="1100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100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모자 → </a:t>
            </a:r>
            <a:r>
              <a:rPr lang="en-US" altLang="ko-KR" sz="1100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Head </a:t>
            </a:r>
            <a:r>
              <a:rPr lang="ko-KR" altLang="en-US" sz="1100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본에 부착    </a:t>
            </a:r>
            <a:r>
              <a:rPr lang="en-US" altLang="ko-KR" sz="1100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    </a:t>
            </a:r>
            <a:r>
              <a:rPr lang="ko-KR" altLang="en-US" sz="1100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옷 </a:t>
            </a:r>
            <a:r>
              <a:rPr lang="en-US" altLang="ko-KR" sz="1100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100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신발 </a:t>
            </a:r>
            <a:r>
              <a:rPr lang="en-US" altLang="ko-KR" sz="1100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100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하의 → 본 리매핑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035A2D5-3D90-3F9C-3507-054A23462366}"/>
              </a:ext>
            </a:extLst>
          </p:cNvPr>
          <p:cNvSpPr/>
          <p:nvPr/>
        </p:nvSpPr>
        <p:spPr>
          <a:xfrm>
            <a:off x="457200" y="3840480"/>
            <a:ext cx="5486400" cy="2560320"/>
          </a:xfrm>
          <a:prstGeom prst="roundRect">
            <a:avLst>
              <a:gd name="adj" fmla="val 6000"/>
            </a:avLst>
          </a:prstGeom>
          <a:solidFill>
            <a:srgbClr val="E7F6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45365C-8A74-B33E-A959-7AAD4132E75B}"/>
              </a:ext>
            </a:extLst>
          </p:cNvPr>
          <p:cNvSpPr txBox="1"/>
          <p:nvPr/>
        </p:nvSpPr>
        <p:spPr>
          <a:xfrm>
            <a:off x="731520" y="3977640"/>
            <a:ext cx="493776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0E9F8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② 본 리매핑   </a:t>
            </a:r>
            <a:r>
              <a:rPr lang="en-US" altLang="ko-KR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SetClothes()</a:t>
            </a:r>
            <a:endParaRPr lang="ko-KR" altLang="en-US" sz="1100">
              <a:solidFill>
                <a:srgbClr val="6B647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88EADD-B1FB-DFC2-EE8B-B5D261202735}"/>
              </a:ext>
            </a:extLst>
          </p:cNvPr>
          <p:cNvSpPr txBox="1"/>
          <p:nvPr/>
        </p:nvSpPr>
        <p:spPr>
          <a:xfrm>
            <a:off x="731520" y="4389120"/>
            <a:ext cx="15544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000" b="1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옷 프리팹의 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9E3A20-3FBF-F43A-EF48-44E84C007DE4}"/>
              </a:ext>
            </a:extLst>
          </p:cNvPr>
          <p:cNvSpPr txBox="1"/>
          <p:nvPr/>
        </p:nvSpPr>
        <p:spPr>
          <a:xfrm>
            <a:off x="4114800" y="4389120"/>
            <a:ext cx="15544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000" b="1">
                <a:solidFill>
                  <a:srgbClr val="0E9F8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캐릭터의 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DF701A-58CB-E90C-F97D-5C8553DAA309}"/>
              </a:ext>
            </a:extLst>
          </p:cNvPr>
          <p:cNvSpPr txBox="1"/>
          <p:nvPr/>
        </p:nvSpPr>
        <p:spPr>
          <a:xfrm>
            <a:off x="2286000" y="4389120"/>
            <a:ext cx="182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같은 이름으로 매칭 </a:t>
            </a:r>
            <a:r>
              <a:rPr lang="en-US" altLang="ko-KR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(boneMap)</a:t>
            </a:r>
            <a:endParaRPr lang="ko-KR" altLang="en-US" sz="1000">
              <a:solidFill>
                <a:srgbClr val="6B647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FFCA61D-8644-F3C0-B975-C2B538113357}"/>
              </a:ext>
            </a:extLst>
          </p:cNvPr>
          <p:cNvSpPr/>
          <p:nvPr/>
        </p:nvSpPr>
        <p:spPr>
          <a:xfrm>
            <a:off x="731520" y="4663440"/>
            <a:ext cx="1554480" cy="2468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8A82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altLang="ko-KR" sz="1000" b="1">
                <a:solidFill>
                  <a:srgbClr val="1F1A2E"/>
                </a:solidFill>
                <a:latin typeface="Consolas" panose="020B0609020204030204" pitchFamily="49" charset="0"/>
              </a:rPr>
              <a:t>Skl_Root</a:t>
            </a:r>
            <a:endParaRPr lang="ko-KR" altLang="en-US" sz="1000" b="1">
              <a:solidFill>
                <a:srgbClr val="1F1A2E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665C7FF-A319-12F5-EB9A-CD5BBEA4CA66}"/>
              </a:ext>
            </a:extLst>
          </p:cNvPr>
          <p:cNvSpPr/>
          <p:nvPr/>
        </p:nvSpPr>
        <p:spPr>
          <a:xfrm>
            <a:off x="4114800" y="4663440"/>
            <a:ext cx="1554480" cy="246888"/>
          </a:xfrm>
          <a:prstGeom prst="roundRect">
            <a:avLst>
              <a:gd name="adj" fmla="val 30000"/>
            </a:avLst>
          </a:prstGeom>
          <a:solidFill>
            <a:srgbClr val="0E9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Consolas" panose="020B0609020204030204" pitchFamily="49" charset="0"/>
              </a:rPr>
              <a:t>Skl_Root</a:t>
            </a:r>
            <a:endParaRPr lang="ko-KR" altLang="en-US" sz="10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B11469D6-2942-D9A1-88B8-0E0DAB30A06E}"/>
              </a:ext>
            </a:extLst>
          </p:cNvPr>
          <p:cNvCxnSpPr/>
          <p:nvPr/>
        </p:nvCxnSpPr>
        <p:spPr>
          <a:xfrm>
            <a:off x="2331720" y="4786884"/>
            <a:ext cx="1737360" cy="0"/>
          </a:xfrm>
          <a:prstGeom prst="line">
            <a:avLst/>
          </a:prstGeom>
          <a:ln w="22225">
            <a:solidFill>
              <a:srgbClr val="0E9F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3C8FF1C8-FAEB-14E4-3FA6-0219B25D52DC}"/>
              </a:ext>
            </a:extLst>
          </p:cNvPr>
          <p:cNvSpPr/>
          <p:nvPr/>
        </p:nvSpPr>
        <p:spPr>
          <a:xfrm>
            <a:off x="731520" y="4974336"/>
            <a:ext cx="1554480" cy="2468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8A82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altLang="ko-KR" sz="1000" b="1">
                <a:solidFill>
                  <a:srgbClr val="1F1A2E"/>
                </a:solidFill>
                <a:latin typeface="Consolas" panose="020B0609020204030204" pitchFamily="49" charset="0"/>
              </a:rPr>
              <a:t>Spine_1</a:t>
            </a:r>
            <a:endParaRPr lang="ko-KR" altLang="en-US" sz="1000" b="1">
              <a:solidFill>
                <a:srgbClr val="1F1A2E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F130DB6-983B-0A9F-4774-0593D89DCAD7}"/>
              </a:ext>
            </a:extLst>
          </p:cNvPr>
          <p:cNvSpPr/>
          <p:nvPr/>
        </p:nvSpPr>
        <p:spPr>
          <a:xfrm>
            <a:off x="4114800" y="4974336"/>
            <a:ext cx="1554480" cy="246888"/>
          </a:xfrm>
          <a:prstGeom prst="roundRect">
            <a:avLst>
              <a:gd name="adj" fmla="val 30000"/>
            </a:avLst>
          </a:prstGeom>
          <a:solidFill>
            <a:srgbClr val="0E9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Consolas" panose="020B0609020204030204" pitchFamily="49" charset="0"/>
              </a:rPr>
              <a:t>Spine_1</a:t>
            </a:r>
            <a:endParaRPr lang="ko-KR" altLang="en-US" sz="10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AC0ACDB7-3DE0-36FC-C2B5-BE89364E10EC}"/>
              </a:ext>
            </a:extLst>
          </p:cNvPr>
          <p:cNvCxnSpPr/>
          <p:nvPr/>
        </p:nvCxnSpPr>
        <p:spPr>
          <a:xfrm>
            <a:off x="2331720" y="5097780"/>
            <a:ext cx="1737360" cy="0"/>
          </a:xfrm>
          <a:prstGeom prst="line">
            <a:avLst/>
          </a:prstGeom>
          <a:ln w="22225">
            <a:solidFill>
              <a:srgbClr val="0E9F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B6B794B-D9EC-230E-D76E-D0619034BE5B}"/>
              </a:ext>
            </a:extLst>
          </p:cNvPr>
          <p:cNvSpPr/>
          <p:nvPr/>
        </p:nvSpPr>
        <p:spPr>
          <a:xfrm>
            <a:off x="731520" y="5285232"/>
            <a:ext cx="1554480" cy="2468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8A82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altLang="ko-KR" sz="1000" b="1">
                <a:solidFill>
                  <a:srgbClr val="1F1A2E"/>
                </a:solidFill>
                <a:latin typeface="Consolas" panose="020B0609020204030204" pitchFamily="49" charset="0"/>
              </a:rPr>
              <a:t>Arm_1_L</a:t>
            </a:r>
            <a:endParaRPr lang="ko-KR" altLang="en-US" sz="1000" b="1">
              <a:solidFill>
                <a:srgbClr val="1F1A2E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8420B7F-1084-927C-174B-6BCA16D4F5F6}"/>
              </a:ext>
            </a:extLst>
          </p:cNvPr>
          <p:cNvSpPr/>
          <p:nvPr/>
        </p:nvSpPr>
        <p:spPr>
          <a:xfrm>
            <a:off x="4114800" y="5285232"/>
            <a:ext cx="1554480" cy="246888"/>
          </a:xfrm>
          <a:prstGeom prst="roundRect">
            <a:avLst>
              <a:gd name="adj" fmla="val 30000"/>
            </a:avLst>
          </a:prstGeom>
          <a:solidFill>
            <a:srgbClr val="0E9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Consolas" panose="020B0609020204030204" pitchFamily="49" charset="0"/>
              </a:rPr>
              <a:t>Arm_1_L</a:t>
            </a:r>
            <a:endParaRPr lang="ko-KR" altLang="en-US" sz="10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85317FC2-21E0-932D-FF9A-6108BC41A959}"/>
              </a:ext>
            </a:extLst>
          </p:cNvPr>
          <p:cNvCxnSpPr/>
          <p:nvPr/>
        </p:nvCxnSpPr>
        <p:spPr>
          <a:xfrm>
            <a:off x="2331720" y="5408676"/>
            <a:ext cx="1737360" cy="0"/>
          </a:xfrm>
          <a:prstGeom prst="line">
            <a:avLst/>
          </a:prstGeom>
          <a:ln w="22225">
            <a:solidFill>
              <a:srgbClr val="0E9F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62F295D8-C7A4-9C91-8972-E2A27984CDE5}"/>
              </a:ext>
            </a:extLst>
          </p:cNvPr>
          <p:cNvSpPr/>
          <p:nvPr/>
        </p:nvSpPr>
        <p:spPr>
          <a:xfrm>
            <a:off x="731520" y="5596128"/>
            <a:ext cx="1554480" cy="2468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8A82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altLang="ko-KR" sz="1000" b="1">
                <a:solidFill>
                  <a:srgbClr val="1F1A2E"/>
                </a:solidFill>
                <a:latin typeface="Consolas" panose="020B0609020204030204" pitchFamily="49" charset="0"/>
              </a:rPr>
              <a:t>…</a:t>
            </a:r>
            <a:endParaRPr lang="ko-KR" altLang="en-US" sz="1000" b="1">
              <a:solidFill>
                <a:srgbClr val="1F1A2E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35E9B58E-7C21-795A-E82F-DB4E044ED3FC}"/>
              </a:ext>
            </a:extLst>
          </p:cNvPr>
          <p:cNvSpPr/>
          <p:nvPr/>
        </p:nvSpPr>
        <p:spPr>
          <a:xfrm>
            <a:off x="4114800" y="5596128"/>
            <a:ext cx="1554480" cy="246888"/>
          </a:xfrm>
          <a:prstGeom prst="roundRect">
            <a:avLst>
              <a:gd name="adj" fmla="val 30000"/>
            </a:avLst>
          </a:prstGeom>
          <a:solidFill>
            <a:srgbClr val="0E9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Consolas" panose="020B0609020204030204" pitchFamily="49" charset="0"/>
              </a:rPr>
              <a:t>…</a:t>
            </a:r>
            <a:endParaRPr lang="ko-KR" altLang="en-US" sz="10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68BB4774-EB4E-B3F8-AB64-DF57F79A1C97}"/>
              </a:ext>
            </a:extLst>
          </p:cNvPr>
          <p:cNvSpPr/>
          <p:nvPr/>
        </p:nvSpPr>
        <p:spPr>
          <a:xfrm>
            <a:off x="731520" y="5971032"/>
            <a:ext cx="4937760" cy="329184"/>
          </a:xfrm>
          <a:prstGeom prst="roundRect">
            <a:avLst>
              <a:gd name="adj" fmla="val 50000"/>
            </a:avLst>
          </a:prstGeom>
          <a:solidFill>
            <a:srgbClr val="0E9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0" rIns="101600" bIns="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✓ renderer.bones · rootBone </a:t>
            </a:r>
            <a:r>
              <a:rPr lang="ko-KR" altLang="en-US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교체 → 옷의 </a:t>
            </a:r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Armature</a:t>
            </a:r>
            <a:r>
              <a:rPr lang="ko-KR" altLang="en-US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</a:t>
            </a:r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Destroy</a:t>
            </a:r>
            <a:endParaRPr lang="ko-KR" altLang="en-US" sz="1100" b="1">
              <a:solidFill>
                <a:srgbClr val="FFFFFF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A54C411B-67F4-B3D0-F66A-EEACB6CA09FE}"/>
              </a:ext>
            </a:extLst>
          </p:cNvPr>
          <p:cNvSpPr/>
          <p:nvPr/>
        </p:nvSpPr>
        <p:spPr>
          <a:xfrm>
            <a:off x="6400800" y="1371600"/>
            <a:ext cx="384048" cy="384048"/>
          </a:xfrm>
          <a:prstGeom prst="ellipse">
            <a:avLst/>
          </a:prstGeom>
          <a:solidFill>
            <a:srgbClr val="6A2C9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9685B63-51DE-80F6-340E-32262DDC7EFE}"/>
              </a:ext>
            </a:extLst>
          </p:cNvPr>
          <p:cNvSpPr txBox="1"/>
          <p:nvPr/>
        </p:nvSpPr>
        <p:spPr>
          <a:xfrm>
            <a:off x="6949440" y="1389888"/>
            <a:ext cx="475488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부위별 프리팹 장착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4AD223-78B2-52EE-1574-96AC6A03784B}"/>
              </a:ext>
            </a:extLst>
          </p:cNvPr>
          <p:cNvSpPr txBox="1"/>
          <p:nvPr/>
        </p:nvSpPr>
        <p:spPr>
          <a:xfrm>
            <a:off x="6949440" y="1828800"/>
            <a:ext cx="47548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PlayerCustomization(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부위별 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enum)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을 기준으로</a:t>
            </a:r>
            <a:b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Resources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에서 옷 프리팹을 불러와 장착한다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b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값이 바뀌면 기존 옷을 모두 지우고 다시 입힌다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1F1A2E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F1777B71-8B75-ED81-DF11-EF42AB510898}"/>
              </a:ext>
            </a:extLst>
          </p:cNvPr>
          <p:cNvSpPr/>
          <p:nvPr/>
        </p:nvSpPr>
        <p:spPr>
          <a:xfrm>
            <a:off x="6400800" y="2834640"/>
            <a:ext cx="384048" cy="384048"/>
          </a:xfrm>
          <a:prstGeom prst="ellipse">
            <a:avLst/>
          </a:prstGeom>
          <a:solidFill>
            <a:srgbClr val="0E9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9389C53-DF27-6373-26DA-0888DDE29974}"/>
              </a:ext>
            </a:extLst>
          </p:cNvPr>
          <p:cNvSpPr txBox="1"/>
          <p:nvPr/>
        </p:nvSpPr>
        <p:spPr>
          <a:xfrm>
            <a:off x="6949440" y="2852928"/>
            <a:ext cx="475488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b="1">
                <a:solidFill>
                  <a:srgbClr val="0E9F8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본 리매핑으로 애니메이션 공유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B32B4C-2485-0AC4-C055-D30F0C0678B4}"/>
              </a:ext>
            </a:extLst>
          </p:cNvPr>
          <p:cNvSpPr txBox="1"/>
          <p:nvPr/>
        </p:nvSpPr>
        <p:spPr>
          <a:xfrm>
            <a:off x="6949440" y="3291840"/>
            <a:ext cx="47548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옷 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SkinnedMeshRenderer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 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bones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를 이름이 같은</a:t>
            </a:r>
            <a:b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캐릭터 본으로 교체한다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옷이 캐릭터 애니메이션을</a:t>
            </a:r>
            <a:b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그대로 따라 움직이고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옷의 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Armature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삭제한다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1F1A2E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B282EEA2-4AD5-63B1-44DD-289F6879F84E}"/>
              </a:ext>
            </a:extLst>
          </p:cNvPr>
          <p:cNvSpPr/>
          <p:nvPr/>
        </p:nvSpPr>
        <p:spPr>
          <a:xfrm>
            <a:off x="6400800" y="4297680"/>
            <a:ext cx="384048" cy="384048"/>
          </a:xfrm>
          <a:prstGeom prst="ellipse">
            <a:avLst/>
          </a:prstGeom>
          <a:solidFill>
            <a:srgbClr val="F26B1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3</a:t>
            </a:r>
            <a:endParaRPr lang="ko-KR" altLang="en-US" sz="14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C3CA7AB-082D-0937-4EF5-7D50FED40E99}"/>
              </a:ext>
            </a:extLst>
          </p:cNvPr>
          <p:cNvSpPr txBox="1"/>
          <p:nvPr/>
        </p:nvSpPr>
        <p:spPr>
          <a:xfrm>
            <a:off x="6949440" y="4315968"/>
            <a:ext cx="475488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b="1">
                <a:solidFill>
                  <a:srgbClr val="F26B1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멀티플레이 동기화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A38996A-80A0-B36C-0187-39CA061BBA3C}"/>
              </a:ext>
            </a:extLst>
          </p:cNvPr>
          <p:cNvSpPr txBox="1"/>
          <p:nvPr/>
        </p:nvSpPr>
        <p:spPr>
          <a:xfrm>
            <a:off x="6949440" y="4754880"/>
            <a:ext cx="47548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177800" indent="-177800">
              <a:spcAft>
                <a:spcPts val="600"/>
              </a:spcAft>
              <a:buClr>
                <a:srgbClr val="F26B1D"/>
              </a:buClr>
              <a:buFont typeface="+mj-lt"/>
              <a:buChar char="•"/>
            </a:pP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내가 고른 값을 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RPC_SubmitCustomization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으로</a:t>
            </a:r>
            <a:b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Host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 전달</a:t>
            </a:r>
          </a:p>
          <a:p>
            <a:pPr marL="177800" indent="-177800">
              <a:spcAft>
                <a:spcPts val="600"/>
              </a:spcAft>
              <a:buClr>
                <a:srgbClr val="F26B1D"/>
              </a:buClr>
              <a:buFont typeface="+mj-lt"/>
              <a:buChar char="•"/>
            </a:pP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[Networked] PlayerCustomization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모든 피어로 복제</a:t>
            </a:r>
          </a:p>
          <a:p>
            <a:pPr marL="177800" indent="-177800">
              <a:spcAft>
                <a:spcPts val="600"/>
              </a:spcAft>
              <a:buClr>
                <a:srgbClr val="F26B1D"/>
              </a:buClr>
              <a:buFont typeface="+mj-lt"/>
              <a:buChar char="•"/>
            </a:pP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OnChangedRender → 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각 피어가</a:t>
            </a:r>
            <a:b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SetCustomization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으로 같은 옷을 재장착</a:t>
            </a:r>
          </a:p>
        </p:txBody>
      </p:sp>
    </p:spTree>
    <p:extLst>
      <p:ext uri="{BB962C8B-B14F-4D97-AF65-F5344CB8AC3E}">
        <p14:creationId xmlns:p14="http://schemas.microsoft.com/office/powerpoint/2010/main" val="4048372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858FC2-DB7A-8161-8513-91A24DE5D2DD}"/>
              </a:ext>
            </a:extLst>
          </p:cNvPr>
          <p:cNvSpPr txBox="1"/>
          <p:nvPr/>
        </p:nvSpPr>
        <p:spPr>
          <a:xfrm>
            <a:off x="457200" y="320040"/>
            <a:ext cx="1124712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32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캐릭터 옷 갈아입기 </a:t>
            </a:r>
            <a:r>
              <a:rPr lang="en-US" altLang="ko-KR" sz="32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32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코드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1CE265-F585-7CEA-C1F1-9A997EDAC9F0}"/>
              </a:ext>
            </a:extLst>
          </p:cNvPr>
          <p:cNvSpPr txBox="1"/>
          <p:nvPr/>
        </p:nvSpPr>
        <p:spPr>
          <a:xfrm>
            <a:off x="457200" y="896112"/>
            <a:ext cx="1124712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CharacterClothChanger.cs · NetworkInklingMovement.cs   (</a:t>
            </a:r>
            <a:r>
              <a:rPr lang="ko-KR" altLang="en-US" sz="14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주황색 </a:t>
            </a:r>
            <a:r>
              <a:rPr lang="en-US" altLang="ko-KR" sz="14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핵심 부분</a:t>
            </a:r>
            <a:r>
              <a:rPr lang="en-US" altLang="ko-KR" sz="14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endParaRPr lang="ko-KR" altLang="en-US" sz="1400">
              <a:solidFill>
                <a:srgbClr val="6B647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A36D9AE-5CF7-F5FE-C5A0-22F7CF2353DB}"/>
              </a:ext>
            </a:extLst>
          </p:cNvPr>
          <p:cNvSpPr/>
          <p:nvPr/>
        </p:nvSpPr>
        <p:spPr>
          <a:xfrm>
            <a:off x="365760" y="1325880"/>
            <a:ext cx="5623560" cy="5120640"/>
          </a:xfrm>
          <a:prstGeom prst="roundRect">
            <a:avLst>
              <a:gd name="adj" fmla="val 4000"/>
            </a:avLst>
          </a:prstGeom>
          <a:solidFill>
            <a:srgbClr val="F3F1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4712F3-01F9-8CB7-C8F1-BF4CB7D2EA96}"/>
              </a:ext>
            </a:extLst>
          </p:cNvPr>
          <p:cNvSpPr txBox="1"/>
          <p:nvPr/>
        </p:nvSpPr>
        <p:spPr>
          <a:xfrm>
            <a:off x="548640" y="1399032"/>
            <a:ext cx="493776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① 장착 </a:t>
            </a:r>
            <a:r>
              <a:rPr lang="en-US" altLang="ko-KR" sz="1500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&amp; </a:t>
            </a:r>
            <a:r>
              <a:rPr lang="ko-KR" altLang="en-US" sz="1500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동기화   </a:t>
            </a:r>
            <a:r>
              <a:rPr lang="en-US" altLang="ko-KR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ClothChanger · InklingMovement</a:t>
            </a:r>
            <a:endParaRPr lang="ko-KR" altLang="en-US" sz="1100">
              <a:solidFill>
                <a:srgbClr val="6B647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84D6679-D7BB-7AB4-A7F8-F4F90BF1FBC9}"/>
              </a:ext>
            </a:extLst>
          </p:cNvPr>
          <p:cNvSpPr/>
          <p:nvPr/>
        </p:nvSpPr>
        <p:spPr>
          <a:xfrm>
            <a:off x="484632" y="1783080"/>
            <a:ext cx="5385816" cy="416052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7000" tIns="76200" rIns="76200" bIns="76200" rtlCol="0" anchor="t"/>
          <a:lstStyle/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public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void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SetCustomization(PlayerCustomization custom)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_headState = custom._head;  _bodyState = custom._cloth;  ...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var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customDic =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new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Dictionary&lt;CustomizeState, string&gt;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{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    { CustomizeState.Head,   _headState.ToString() },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    { CustomizeState.Shirts, _bodyState.ToString() },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    ...                       </a:t>
            </a:r>
            <a:r>
              <a:rPr lang="en-US" altLang="ko-KR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// Shoes · Hair · Eyebrows · Bottom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};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</a:t>
            </a:r>
            <a:r>
              <a:rPr lang="en-US" altLang="ko-KR" sz="1000" b="1">
                <a:solidFill>
                  <a:srgbClr val="FFB86C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ClearEquipped()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;              </a:t>
            </a:r>
            <a:r>
              <a:rPr lang="en-US" altLang="ko-KR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// </a:t>
            </a:r>
            <a:r>
              <a:rPr lang="ko-KR" altLang="en-US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이전 옷을 전부 </a:t>
            </a:r>
            <a:r>
              <a:rPr lang="en-US" altLang="ko-KR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Destroy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foreach (KeyValuePair&lt;CustomizeState, string&gt; pair in customDic)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{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   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if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(pair.Value == "Count") continue;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    </a:t>
            </a:r>
            <a:r>
              <a:rPr lang="en-US" altLang="ko-KR" sz="1000" b="1">
                <a:solidFill>
                  <a:srgbClr val="FFB86C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Equip(pair.Key, pair.Value)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;  </a:t>
            </a:r>
            <a:r>
              <a:rPr lang="en-US" altLang="ko-KR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// Resources</a:t>
            </a:r>
            <a:r>
              <a:rPr lang="ko-KR" altLang="en-US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에서 로드 후 장착</a:t>
            </a:r>
          </a:p>
          <a:p>
            <a:pPr>
              <a:lnSpc>
                <a:spcPct val="90000"/>
              </a:lnSpc>
            </a:pPr>
            <a:r>
              <a:rPr lang="ko-KR" altLang="en-US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   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if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(pair.Key == CustomizeState.Shoes)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        Equip(pair.Key, pair.Value + "_R");   </a:t>
            </a:r>
            <a:r>
              <a:rPr lang="en-US" altLang="ko-KR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// </a:t>
            </a:r>
            <a:r>
              <a:rPr lang="ko-KR" altLang="en-US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신발은 오른쪽도</a:t>
            </a:r>
          </a:p>
          <a:p>
            <a:pPr>
              <a:lnSpc>
                <a:spcPct val="90000"/>
              </a:lnSpc>
            </a:pPr>
            <a:r>
              <a:rPr lang="ko-KR" altLang="en-US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}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}</a:t>
            </a:r>
          </a:p>
          <a:p>
            <a:pPr>
              <a:lnSpc>
                <a:spcPct val="90000"/>
              </a:lnSpc>
            </a:pPr>
            <a:endParaRPr lang="en-US" altLang="ko-KR" sz="1000">
              <a:solidFill>
                <a:srgbClr val="D4D4D4"/>
              </a:solidFill>
              <a:latin typeface="Consolas" panose="020B0609020204030204" pitchFamily="49" charset="0"/>
              <a:ea typeface="Malgun Gothic" panose="020B0503020000020004" pitchFamily="50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// NetworkInklingMovement.cs — </a:t>
            </a:r>
            <a:r>
              <a:rPr lang="ko-KR" altLang="en-US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값이 복제되면 모든 피어가 다시 입힘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[Networked, </a:t>
            </a:r>
            <a:r>
              <a:rPr lang="en-US" altLang="ko-KR" sz="1000" b="1">
                <a:solidFill>
                  <a:srgbClr val="FFB86C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OnChangedRender(nameof(OnCustomizationChanged))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PlayerCustomization _custom { get; set; }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void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OnCustomizationChanged()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if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(HasInputAuthority)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return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;   </a:t>
            </a:r>
            <a:r>
              <a:rPr lang="en-US" altLang="ko-KR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// </a:t>
            </a:r>
            <a:r>
              <a:rPr lang="ko-KR" altLang="en-US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내 캐릭터는 이미 로컬 적용</a:t>
            </a:r>
          </a:p>
          <a:p>
            <a:pPr>
              <a:lnSpc>
                <a:spcPct val="90000"/>
              </a:lnSpc>
            </a:pPr>
            <a:r>
              <a:rPr lang="ko-KR" altLang="en-US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_characterClothChanger.</a:t>
            </a:r>
            <a:r>
              <a:rPr lang="en-US" altLang="ko-KR" sz="1000" b="1">
                <a:solidFill>
                  <a:srgbClr val="FFB86C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SetCustomization(_custom)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}</a:t>
            </a:r>
            <a:endParaRPr lang="ko-KR" altLang="en-US" sz="1000">
              <a:solidFill>
                <a:srgbClr val="D4D4D4"/>
              </a:solidFill>
              <a:latin typeface="Consolas" panose="020B0609020204030204" pitchFamily="49" charset="0"/>
              <a:ea typeface="Malgun Gothic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180D5D1-D095-82ED-C183-39404CD5ABC9}"/>
              </a:ext>
            </a:extLst>
          </p:cNvPr>
          <p:cNvSpPr/>
          <p:nvPr/>
        </p:nvSpPr>
        <p:spPr>
          <a:xfrm>
            <a:off x="484632" y="6035040"/>
            <a:ext cx="5385816" cy="329184"/>
          </a:xfrm>
          <a:prstGeom prst="roundRect">
            <a:avLst>
              <a:gd name="adj" fmla="val 50000"/>
            </a:avLst>
          </a:prstGeom>
          <a:solidFill>
            <a:srgbClr val="6A2C9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0" rIns="101600" bIns="0" rtlCol="0" anchor="ctr"/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값이 바뀌면 전부 지우고 재장착 </a:t>
            </a:r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복제되면 모든 피어가 재장착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5C2F2B8-37A1-5C9C-39FC-3F35F776D357}"/>
              </a:ext>
            </a:extLst>
          </p:cNvPr>
          <p:cNvSpPr/>
          <p:nvPr/>
        </p:nvSpPr>
        <p:spPr>
          <a:xfrm>
            <a:off x="6199632" y="1325880"/>
            <a:ext cx="5623560" cy="5120640"/>
          </a:xfrm>
          <a:prstGeom prst="roundRect">
            <a:avLst>
              <a:gd name="adj" fmla="val 4000"/>
            </a:avLst>
          </a:prstGeom>
          <a:solidFill>
            <a:srgbClr val="E7F6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D783E0-9885-F286-FE19-AB8FE3A98B4D}"/>
              </a:ext>
            </a:extLst>
          </p:cNvPr>
          <p:cNvSpPr txBox="1"/>
          <p:nvPr/>
        </p:nvSpPr>
        <p:spPr>
          <a:xfrm>
            <a:off x="6382512" y="1399032"/>
            <a:ext cx="493776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0E9F8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② 본 리매핑   </a:t>
            </a:r>
            <a:r>
              <a:rPr lang="en-US" altLang="ko-KR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CharacterClothChanger.SetClothes()</a:t>
            </a:r>
            <a:endParaRPr lang="ko-KR" altLang="en-US" sz="1100">
              <a:solidFill>
                <a:srgbClr val="6B647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AAF8BA4-6F64-C1C1-14AF-88C1ED94274A}"/>
              </a:ext>
            </a:extLst>
          </p:cNvPr>
          <p:cNvSpPr/>
          <p:nvPr/>
        </p:nvSpPr>
        <p:spPr>
          <a:xfrm>
            <a:off x="6318504" y="1783080"/>
            <a:ext cx="5385816" cy="416052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7000" tIns="76200" rIns="76200" bIns="76200" rtlCol="0" anchor="t"/>
          <a:lstStyle/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// </a:t>
            </a:r>
            <a:r>
              <a:rPr lang="ko-KR" altLang="en-US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캐릭터의 본을 이름으로 찾는 사전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var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boneMap =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new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Dictionary&lt;string, Transform&gt;();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foreach (Transform bone in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     _characterRootBone.GetComponentsInChildren&lt;Transform&gt;())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if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(!boneMap.ContainsKey(bone.name)) </a:t>
            </a:r>
            <a:r>
              <a:rPr lang="en-US" altLang="ko-KR" sz="1000" b="1">
                <a:solidFill>
                  <a:srgbClr val="FFB86C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boneMap.Add(bone.name, bone)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foreach (SkinnedMeshRenderer renderer in clothRender)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Transform[] oldBones = renderer.bones;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Transform[] newBones =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new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Transform[oldBones.Length];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for (int i = 0; i &lt; oldBones.Length; i++)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{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    string boneName = oldBones[i].name;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    </a:t>
            </a: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if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(</a:t>
            </a:r>
            <a:r>
              <a:rPr lang="en-US" altLang="ko-KR" sz="1000" b="1">
                <a:solidFill>
                  <a:srgbClr val="FFB86C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boneMap.TryGetValue(boneName, out Transform targetBone)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        newBones[i] = targetBone;     </a:t>
            </a:r>
            <a:r>
              <a:rPr lang="en-US" altLang="ko-KR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// </a:t>
            </a:r>
            <a:r>
              <a:rPr lang="ko-KR" altLang="en-US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캐릭터의 뼈대로 대체</a:t>
            </a:r>
          </a:p>
          <a:p>
            <a:pPr>
              <a:lnSpc>
                <a:spcPct val="90000"/>
              </a:lnSpc>
            </a:pPr>
            <a:r>
              <a:rPr lang="ko-KR" altLang="en-US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    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else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        newBones[i] = oldBones[i];    </a:t>
            </a:r>
            <a:r>
              <a:rPr lang="en-US" altLang="ko-KR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// </a:t>
            </a:r>
            <a:r>
              <a:rPr lang="ko-KR" altLang="en-US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못 찾으면 경고 후 유지</a:t>
            </a:r>
          </a:p>
          <a:p>
            <a:pPr>
              <a:lnSpc>
                <a:spcPct val="90000"/>
              </a:lnSpc>
            </a:pPr>
            <a:r>
              <a:rPr lang="ko-KR" altLang="en-US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}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</a:t>
            </a:r>
            <a:r>
              <a:rPr lang="en-US" altLang="ko-KR" sz="1000" b="1">
                <a:solidFill>
                  <a:srgbClr val="FFB86C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renderer.bones = newBones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</a:t>
            </a:r>
            <a:r>
              <a:rPr lang="en-US" altLang="ko-KR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// rootBone</a:t>
            </a:r>
            <a:r>
              <a:rPr lang="ko-KR" altLang="en-US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도 같은 방식으로 캐릭터의 본으로 교체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}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// </a:t>
            </a:r>
            <a:r>
              <a:rPr lang="ko-KR" altLang="en-US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옷에 딸려온 </a:t>
            </a:r>
            <a:r>
              <a:rPr lang="en-US" altLang="ko-KR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Armature</a:t>
            </a:r>
            <a:r>
              <a:rPr lang="ko-KR" altLang="en-US" sz="1000">
                <a:solidFill>
                  <a:srgbClr val="6A9955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는 더 이상 쓰지 않으므로 삭제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Transform clothingArmature = clothObj.transform.Find("Armature");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569CD6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if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(clothingArmature != null)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clothingArmature.SetParent(null);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    </a:t>
            </a:r>
            <a:r>
              <a:rPr lang="en-US" altLang="ko-KR" sz="1000" b="1">
                <a:solidFill>
                  <a:srgbClr val="FFB86C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Destroy(clothingArmature.gameObject)</a:t>
            </a: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ko-KR" sz="1000">
                <a:solidFill>
                  <a:srgbClr val="D4D4D4"/>
                </a:solidFill>
                <a:latin typeface="Consolas" panose="020B0609020204030204" pitchFamily="49" charset="0"/>
                <a:ea typeface="Malgun Gothic" panose="020B0503020000020004" pitchFamily="50" charset="-127"/>
              </a:rPr>
              <a:t>}</a:t>
            </a:r>
            <a:endParaRPr lang="ko-KR" altLang="en-US" sz="1000">
              <a:solidFill>
                <a:srgbClr val="D4D4D4"/>
              </a:solidFill>
              <a:latin typeface="Consolas" panose="020B0609020204030204" pitchFamily="49" charset="0"/>
              <a:ea typeface="Malgun Gothic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C356AA0-4BCC-2A59-C8C4-122EA64786C0}"/>
              </a:ext>
            </a:extLst>
          </p:cNvPr>
          <p:cNvSpPr/>
          <p:nvPr/>
        </p:nvSpPr>
        <p:spPr>
          <a:xfrm>
            <a:off x="6318504" y="6035040"/>
            <a:ext cx="5385816" cy="329184"/>
          </a:xfrm>
          <a:prstGeom prst="roundRect">
            <a:avLst>
              <a:gd name="adj" fmla="val 50000"/>
            </a:avLst>
          </a:prstGeom>
          <a:solidFill>
            <a:srgbClr val="0E9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0" rIns="101600" bIns="0" rtlCol="0" anchor="ctr"/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옷의 </a:t>
            </a:r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bones</a:t>
            </a:r>
            <a:r>
              <a:rPr lang="ko-KR" altLang="en-US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를 같은 이름의 캐릭터 본으로 교체 → 애니메이션 공유</a:t>
            </a:r>
          </a:p>
        </p:txBody>
      </p:sp>
    </p:spTree>
    <p:extLst>
      <p:ext uri="{BB962C8B-B14F-4D97-AF65-F5344CB8AC3E}">
        <p14:creationId xmlns:p14="http://schemas.microsoft.com/office/powerpoint/2010/main" val="3494830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2830</Words>
  <Application>Microsoft Office PowerPoint</Application>
  <PresentationFormat>사용자 지정</PresentationFormat>
  <Paragraphs>300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MJ</dc:creator>
  <cp:lastModifiedBy>MJ</cp:lastModifiedBy>
  <cp:revision>1</cp:revision>
  <dcterms:created xsi:type="dcterms:W3CDTF">2026-10-04T13:05:08Z</dcterms:created>
  <dcterms:modified xsi:type="dcterms:W3CDTF">2026-10-04T13:05:08Z</dcterms:modified>
</cp:coreProperties>
</file>