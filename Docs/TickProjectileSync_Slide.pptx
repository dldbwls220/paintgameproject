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65912-5E76-461F-BFC2-793198D293D8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A3B10-C9ED-4E77-B28E-1445E1CBB9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081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투사체 위치를 매 틱 동기화하지 않고</a:t>
            </a:r>
            <a:r>
              <a:rPr lang="en-US" altLang="ko-KR"/>
              <a:t>, </a:t>
            </a:r>
            <a:r>
              <a:rPr lang="ko-KR" altLang="en-US"/>
              <a:t>발사 순간의 </a:t>
            </a:r>
            <a:r>
              <a:rPr lang="en-US" altLang="ko-KR"/>
              <a:t>Position·Velocity·FireTick</a:t>
            </a:r>
            <a:r>
              <a:rPr lang="ko-KR" altLang="en-US"/>
              <a:t>만 </a:t>
            </a:r>
            <a:r>
              <a:rPr lang="en-US" altLang="ko-KR"/>
              <a:t>[Networked] InkProjectileData</a:t>
            </a:r>
            <a:r>
              <a:rPr lang="ko-KR" altLang="en-US"/>
              <a:t>에 기록한다</a:t>
            </a:r>
            <a:r>
              <a:rPr lang="en-US" altLang="ko-KR"/>
              <a:t>. </a:t>
            </a:r>
            <a:r>
              <a:rPr lang="ko-KR" altLang="en-US"/>
              <a:t>각 피어는 </a:t>
            </a:r>
            <a:r>
              <a:rPr lang="en-US" altLang="ko-KR"/>
              <a:t>GetMovePosition(tick)</a:t>
            </a:r>
            <a:r>
              <a:rPr lang="ko-KR" altLang="en-US"/>
              <a:t>으로 </a:t>
            </a:r>
            <a:r>
              <a:rPr lang="en-US" altLang="ko-KR"/>
              <a:t>(tick - FireTick) * DeltaTime </a:t>
            </a:r>
            <a:r>
              <a:rPr lang="ko-KR" altLang="en-US"/>
              <a:t>경과 시간을 구해 직선 구간 </a:t>
            </a:r>
            <a:r>
              <a:rPr lang="en-US" altLang="ko-KR"/>
              <a:t>+ </a:t>
            </a:r>
            <a:r>
              <a:rPr lang="ko-KR" altLang="en-US"/>
              <a:t>중력 포물선 궤적을 직접 계산하므로 같은 위치를 얻는다</a:t>
            </a:r>
            <a:r>
              <a:rPr lang="en-US" altLang="ko-KR"/>
              <a:t>. </a:t>
            </a:r>
            <a:r>
              <a:rPr lang="ko-KR" altLang="en-US"/>
              <a:t>충돌은 </a:t>
            </a:r>
            <a:r>
              <a:rPr lang="en-US" altLang="ko-KR"/>
              <a:t>State Authority(Host)</a:t>
            </a:r>
            <a:r>
              <a:rPr lang="ko-KR" altLang="en-US"/>
              <a:t>만 </a:t>
            </a:r>
            <a:r>
              <a:rPr lang="en-US" altLang="ko-KR"/>
              <a:t>FixedUpdateNetwork</a:t>
            </a:r>
            <a:r>
              <a:rPr lang="ko-KR" altLang="en-US"/>
              <a:t>에서 </a:t>
            </a:r>
            <a:r>
              <a:rPr lang="en-US" altLang="ko-KR"/>
              <a:t>Tick-1 </a:t>
            </a:r>
            <a:r>
              <a:rPr lang="ko-KR" altLang="en-US"/>
              <a:t>위치부터 </a:t>
            </a:r>
            <a:r>
              <a:rPr lang="en-US" altLang="ko-KR"/>
              <a:t>Tick </a:t>
            </a:r>
            <a:r>
              <a:rPr lang="ko-KR" altLang="en-US"/>
              <a:t>위치까지 </a:t>
            </a:r>
            <a:r>
              <a:rPr lang="en-US" altLang="ko-KR"/>
              <a:t>LagCompensation.Raycast</a:t>
            </a:r>
            <a:r>
              <a:rPr lang="ko-KR" altLang="en-US"/>
              <a:t>로 판정한다</a:t>
            </a:r>
            <a:r>
              <a:rPr lang="en-US" altLang="ko-KR"/>
              <a:t>. </a:t>
            </a:r>
            <a:r>
              <a:rPr lang="ko-KR" altLang="en-US"/>
              <a:t>탄착 시 </a:t>
            </a:r>
            <a:r>
              <a:rPr lang="en-US" altLang="ko-KR"/>
              <a:t>IsFinished</a:t>
            </a:r>
            <a:r>
              <a:rPr lang="ko-KR" altLang="en-US"/>
              <a:t>와 </a:t>
            </a:r>
            <a:r>
              <a:rPr lang="en-US" altLang="ko-KR"/>
              <a:t>ImpactPosition/Normal/PaintRadius</a:t>
            </a:r>
            <a:r>
              <a:rPr lang="ko-KR" altLang="en-US"/>
              <a:t>를 기록하고 </a:t>
            </a:r>
            <a:r>
              <a:rPr lang="en-US" altLang="ko-KR"/>
              <a:t>RPC_OnHit</a:t>
            </a:r>
            <a:r>
              <a:rPr lang="ko-KR" altLang="en-US"/>
              <a:t>로 모든 피어에 페인트</a:t>
            </a:r>
            <a:r>
              <a:rPr lang="en-US" altLang="ko-KR"/>
              <a:t>·FX</a:t>
            </a:r>
            <a:r>
              <a:rPr lang="ko-KR" altLang="en-US"/>
              <a:t>를 알린다</a:t>
            </a:r>
            <a:r>
              <a:rPr lang="en-US" altLang="ko-KR"/>
              <a:t>. RPC</a:t>
            </a:r>
            <a:r>
              <a:rPr lang="ko-KR" altLang="en-US"/>
              <a:t>가 도착할 시간을 벌기 위해 </a:t>
            </a:r>
            <a:r>
              <a:rPr lang="en-US" altLang="ko-KR"/>
              <a:t>TickTimer</a:t>
            </a:r>
            <a:r>
              <a:rPr lang="ko-KR" altLang="en-US"/>
              <a:t>로 </a:t>
            </a:r>
            <a:r>
              <a:rPr lang="en-US" altLang="ko-KR"/>
              <a:t>0.3</a:t>
            </a:r>
            <a:r>
              <a:rPr lang="ko-KR" altLang="en-US"/>
              <a:t>초 뒤에 </a:t>
            </a:r>
            <a:r>
              <a:rPr lang="en-US" altLang="ko-KR"/>
              <a:t>Despawn</a:t>
            </a:r>
            <a:r>
              <a:rPr lang="ko-KR" altLang="en-US"/>
              <a:t>하며</a:t>
            </a:r>
            <a:r>
              <a:rPr lang="en-US" altLang="ko-KR"/>
              <a:t>, </a:t>
            </a:r>
            <a:r>
              <a:rPr lang="ko-KR" altLang="en-US"/>
              <a:t>클라이언트는 </a:t>
            </a:r>
            <a:r>
              <a:rPr lang="en-US" altLang="ko-KR"/>
              <a:t>Render()</a:t>
            </a:r>
            <a:r>
              <a:rPr lang="ko-KR" altLang="en-US"/>
              <a:t>에서 </a:t>
            </a:r>
            <a:r>
              <a:rPr lang="en-US" altLang="ko-KR"/>
              <a:t>LocalRenderTime </a:t>
            </a:r>
            <a:r>
              <a:rPr lang="ko-KR" altLang="en-US"/>
              <a:t>기준으로 부드럽게 보간하고 </a:t>
            </a:r>
            <a:r>
              <a:rPr lang="en-US" altLang="ko-KR"/>
              <a:t>IsFinished</a:t>
            </a:r>
            <a:r>
              <a:rPr lang="ko-KR" altLang="en-US"/>
              <a:t>가 되면 비주얼을 숨긴다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A3B10-C9ED-4E77-B28E-1445E1CBB97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370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E792E-407E-CAF9-85FC-AE1418C2D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BDB179-93A7-08EC-0F3A-009A79677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629BFA-0653-EFF7-70B0-B85A0DC2F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B86B-6087-4E90-AF2B-A00A207F47EC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01B717-6948-2C0F-4878-A159AC31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4C64AB-37D8-E2D9-EC7C-3B42B872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13E-89ED-4304-90A0-A4612E595B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000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801CB-D1C0-9D9D-8C21-C1482FCA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5B2155-DBC3-0F09-D81E-3F1F82FB5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91E7E-B4F4-1519-ED92-957058DA4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B86B-6087-4E90-AF2B-A00A207F47EC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F13894-ED62-141E-6A36-714C8FF0C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FD1D9C-5C97-1498-A432-439EA0BFF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13E-89ED-4304-90A0-A4612E595B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980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3C600-47AB-7489-2DA7-AEACEDE3F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A99590-CC2D-AD9E-3610-510039069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C785C0-AE88-459B-34DF-5DEC56D4D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B86B-6087-4E90-AF2B-A00A207F47EC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6068D0-337A-4FE9-76AE-C3028530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52467F-503E-7F23-E28E-0A30289B6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13E-89ED-4304-90A0-A4612E595B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365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DCDDF-CBCE-1F00-C909-6025C7E0D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44908C-EF91-2AE3-1E6F-1D545C954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46EF35-1ABC-06CD-4636-6548D8865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D73C85-6BF6-A93B-A651-4E1C023A8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B86B-6087-4E90-AF2B-A00A207F47EC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79AEF3-E099-7356-73A0-18008B6BC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143B7B-733B-9E99-7604-ADE080430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13E-89ED-4304-90A0-A4612E595B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401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E9BB3E-157E-3E1B-2B0A-FA0DCBDF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870509-BDEE-590F-EDF7-90A8D2181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B9770B-2B08-A753-F04B-8ED50495D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CD9AA9-7E45-9AF7-43A3-666FDDC73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323D39-F385-6C47-2919-9591654485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7898AD-5728-2BC7-A967-C23CA3BC9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B86B-6087-4E90-AF2B-A00A207F47EC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9366DA-24A5-327E-8B0A-0C15F6E56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68177F-935E-A9AC-E3E1-FECA54F59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13E-89ED-4304-90A0-A4612E595B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56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54143-5415-3B51-BCE1-DB9C7A2C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7C4012-9C2C-031F-81AF-2B4610E2C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B86B-6087-4E90-AF2B-A00A207F47EC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FF287B-6582-BEC7-6F5B-4E242617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6D79A5-DE55-881E-553F-53650ADE4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13E-89ED-4304-90A0-A4612E595B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414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297C944-C1F6-AF63-91F7-83E21C2B7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B86B-6087-4E90-AF2B-A00A207F47EC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D62733-3985-177E-4F0E-94A34DAA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68F312-61EF-E0C9-8BAB-C3EA692FC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13E-89ED-4304-90A0-A4612E595B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455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38824-F5C6-6485-16E7-E2119B460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DF736-8F15-322B-1D75-90CFD8ACE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183822-4164-80F7-C64F-CBEAA2A19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55D979-3038-1F13-F71A-08AA68C35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B86B-6087-4E90-AF2B-A00A207F47EC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672ED3-A814-0F86-9AF2-6D1C11398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BB6F02-92F2-C3B9-5085-F92B85533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13E-89ED-4304-90A0-A4612E595B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76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556DD2-8E4B-A1ED-D110-D489BA5C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08133C-B019-934B-49C6-E866C2A1CDE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824693-CFFE-8661-D5D6-005172FE8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78FD2B-5794-9002-6C72-C3F6153F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B86B-6087-4E90-AF2B-A00A207F47EC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EF06AE-1B14-E899-9D04-87331DBBD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B6EFC5-AB26-BA61-A5CC-273D3DF45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13E-89ED-4304-90A0-A4612E595B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013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14112-144D-FC09-653C-49B70E9D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86C3F4-9335-DE37-35F9-4F5CEA08F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A26A11-CCBB-6D4A-550E-9956805FA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B86B-6087-4E90-AF2B-A00A207F47EC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F41937-C450-B687-BBCD-04D78142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EC7F21-2472-8F54-BE87-23B940A49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13E-89ED-4304-90A0-A4612E595B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889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663D14-B79A-AAEF-FE2F-0DDA57D2B0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76A20F-6F4A-4C75-A6F1-371AB9C25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E8D9C2-A552-D4F8-E990-4C746F0D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B86B-6087-4E90-AF2B-A00A207F47EC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F89BE8-5C0C-2192-E540-33A6F7CDE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2C8CF2-0F8D-AFBA-1B1A-3DAAA256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13E-89ED-4304-90A0-A4612E595B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753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1007F7F-4A9F-D578-F56C-79C9D444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025428-3016-4BC3-BBA4-7BAFD6640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C5D93C-464C-0720-F34C-C01E4CCE9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6B86B-6087-4E90-AF2B-A00A207F47EC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C36933-52A8-056C-D649-138B25BDE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51BD7E-3AD3-7C4E-1CE1-88FA1CF04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2813E-89ED-4304-90A0-A4612E595B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103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BF6286-5A9D-CFB5-3F0D-8B79B3B8EA84}"/>
              </a:ext>
            </a:extLst>
          </p:cNvPr>
          <p:cNvSpPr txBox="1"/>
          <p:nvPr/>
        </p:nvSpPr>
        <p:spPr>
          <a:xfrm>
            <a:off x="457200" y="320040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Tick </a:t>
            </a:r>
            <a:r>
              <a:rPr lang="ko-KR" altLang="en-US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기반 투사체 동기화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12F60C-8131-149C-CA28-F9B39CE2E2CA}"/>
              </a:ext>
            </a:extLst>
          </p:cNvPr>
          <p:cNvSpPr txBox="1"/>
          <p:nvPr/>
        </p:nvSpPr>
        <p:spPr>
          <a:xfrm>
            <a:off x="457200" y="896112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NetworkInkProjectile — 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발사 순간과 탄착 순간만 동기화하고</a:t>
            </a:r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궤적은 각 피어가 </a:t>
            </a:r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Tick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계산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10102A6-BAF8-AA43-47A7-D4B3C5E2BE8C}"/>
              </a:ext>
            </a:extLst>
          </p:cNvPr>
          <p:cNvSpPr/>
          <p:nvPr/>
        </p:nvSpPr>
        <p:spPr>
          <a:xfrm>
            <a:off x="457200" y="137160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3F1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CDE7D-F55F-8C8E-01DA-F2786CE0D724}"/>
              </a:ext>
            </a:extLst>
          </p:cNvPr>
          <p:cNvSpPr txBox="1"/>
          <p:nvPr/>
        </p:nvSpPr>
        <p:spPr>
          <a:xfrm>
            <a:off x="731520" y="1508760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① 발사 순간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Initialize() · 1</a:t>
            </a:r>
            <a:r>
              <a:rPr lang="ko-KR" altLang="en-US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회만 기록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910A7C7-1054-7E3B-E6AA-38C2CB21C47E}"/>
              </a:ext>
            </a:extLst>
          </p:cNvPr>
          <p:cNvSpPr/>
          <p:nvPr/>
        </p:nvSpPr>
        <p:spPr>
          <a:xfrm>
            <a:off x="731520" y="2011680"/>
            <a:ext cx="1600200" cy="1051560"/>
          </a:xfrm>
          <a:prstGeom prst="roundRect">
            <a:avLst>
              <a:gd name="adj" fmla="val 12000"/>
            </a:avLst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/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[Networked]</a:t>
            </a:r>
          </a:p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InkProjectileData</a:t>
            </a:r>
          </a:p>
          <a:p>
            <a:pPr algn="ctr"/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Position · Velocity</a:t>
            </a:r>
          </a:p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FireTick</a:t>
            </a:r>
            <a:endParaRPr lang="ko-KR" altLang="en-US" sz="1100" b="1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4F7477-C1E2-86D1-B39F-F326A43F2794}"/>
              </a:ext>
            </a:extLst>
          </p:cNvPr>
          <p:cNvCxnSpPr/>
          <p:nvPr/>
        </p:nvCxnSpPr>
        <p:spPr>
          <a:xfrm>
            <a:off x="2331720" y="2253996"/>
            <a:ext cx="301752" cy="0"/>
          </a:xfrm>
          <a:prstGeom prst="line">
            <a:avLst/>
          </a:prstGeom>
          <a:ln w="22225">
            <a:solidFill>
              <a:srgbClr val="6A2C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5A181F23-26E3-5FF6-9484-8EFFB870E810}"/>
              </a:ext>
            </a:extLst>
          </p:cNvPr>
          <p:cNvSpPr/>
          <p:nvPr/>
        </p:nvSpPr>
        <p:spPr>
          <a:xfrm>
            <a:off x="2697480" y="2194560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707FCE7-2C44-707F-9B01-79ED77D045E1}"/>
              </a:ext>
            </a:extLst>
          </p:cNvPr>
          <p:cNvSpPr/>
          <p:nvPr/>
        </p:nvSpPr>
        <p:spPr>
          <a:xfrm>
            <a:off x="3044952" y="2194560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B3EE234-6D3F-EEE9-34BF-BC1D6843065B}"/>
              </a:ext>
            </a:extLst>
          </p:cNvPr>
          <p:cNvSpPr/>
          <p:nvPr/>
        </p:nvSpPr>
        <p:spPr>
          <a:xfrm>
            <a:off x="3392424" y="2194560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020FC97-B434-B190-74B3-E9131FF64E2B}"/>
              </a:ext>
            </a:extLst>
          </p:cNvPr>
          <p:cNvSpPr/>
          <p:nvPr/>
        </p:nvSpPr>
        <p:spPr>
          <a:xfrm>
            <a:off x="3739896" y="2194560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2CFAB14-BB3C-A680-B17F-D41EA308161F}"/>
              </a:ext>
            </a:extLst>
          </p:cNvPr>
          <p:cNvSpPr/>
          <p:nvPr/>
        </p:nvSpPr>
        <p:spPr>
          <a:xfrm>
            <a:off x="4087368" y="2226564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3C01029-EB42-4ED5-8025-1DA77E988C74}"/>
              </a:ext>
            </a:extLst>
          </p:cNvPr>
          <p:cNvSpPr/>
          <p:nvPr/>
        </p:nvSpPr>
        <p:spPr>
          <a:xfrm>
            <a:off x="4434840" y="2322576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992FA81-130D-97A3-5B30-3ED994E99C89}"/>
              </a:ext>
            </a:extLst>
          </p:cNvPr>
          <p:cNvSpPr/>
          <p:nvPr/>
        </p:nvSpPr>
        <p:spPr>
          <a:xfrm>
            <a:off x="4782312" y="2482596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02BBC9E-50A3-9F64-C0C7-B0A3C4D9CE8A}"/>
              </a:ext>
            </a:extLst>
          </p:cNvPr>
          <p:cNvSpPr/>
          <p:nvPr/>
        </p:nvSpPr>
        <p:spPr>
          <a:xfrm>
            <a:off x="5129784" y="2706624"/>
            <a:ext cx="118872" cy="118872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3D97742-2FB1-1963-3E7A-BB3BA31F79B6}"/>
              </a:ext>
            </a:extLst>
          </p:cNvPr>
          <p:cNvSpPr/>
          <p:nvPr/>
        </p:nvSpPr>
        <p:spPr>
          <a:xfrm>
            <a:off x="5431536" y="2948940"/>
            <a:ext cx="210312" cy="210312"/>
          </a:xfrm>
          <a:prstGeom prst="ellipse">
            <a:avLst/>
          </a:prstGeom>
          <a:solidFill>
            <a:srgbClr val="F26B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0E4FEB-B086-DD6D-A4C5-AE62390E8355}"/>
              </a:ext>
            </a:extLst>
          </p:cNvPr>
          <p:cNvSpPr txBox="1"/>
          <p:nvPr/>
        </p:nvSpPr>
        <p:spPr>
          <a:xfrm>
            <a:off x="2560320" y="242316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FireTick</a:t>
            </a:r>
            <a:endParaRPr lang="ko-KR" altLang="en-US" sz="1000" b="1">
              <a:solidFill>
                <a:srgbClr val="6A2C9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0E1063-55CB-DD8D-792A-871BD7292BCA}"/>
              </a:ext>
            </a:extLst>
          </p:cNvPr>
          <p:cNvSpPr txBox="1"/>
          <p:nvPr/>
        </p:nvSpPr>
        <p:spPr>
          <a:xfrm>
            <a:off x="2697480" y="1901952"/>
            <a:ext cx="30175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직선 구간  →  낙하 구간 </a:t>
            </a:r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중력</a:t>
            </a:r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endParaRPr lang="ko-KR" altLang="en-US" sz="10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A17807-11DC-A39E-E1B8-E419FB452FB0}"/>
              </a:ext>
            </a:extLst>
          </p:cNvPr>
          <p:cNvSpPr txBox="1"/>
          <p:nvPr/>
        </p:nvSpPr>
        <p:spPr>
          <a:xfrm>
            <a:off x="4526280" y="2971800"/>
            <a:ext cx="822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ko-KR" altLang="en-US" sz="1000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탄착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7BDC0C-84F9-2B2B-C7A2-27A9903AC1F8}"/>
              </a:ext>
            </a:extLst>
          </p:cNvPr>
          <p:cNvSpPr txBox="1"/>
          <p:nvPr/>
        </p:nvSpPr>
        <p:spPr>
          <a:xfrm>
            <a:off x="2697480" y="2697480"/>
            <a:ext cx="182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● = 1 Tick</a:t>
            </a:r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마다의 위치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179FDC9-DC0F-C098-C37A-E88543331C57}"/>
              </a:ext>
            </a:extLst>
          </p:cNvPr>
          <p:cNvSpPr/>
          <p:nvPr/>
        </p:nvSpPr>
        <p:spPr>
          <a:xfrm>
            <a:off x="731520" y="3246120"/>
            <a:ext cx="49377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en-US" altLang="ko-KR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P(tick) = f(FireTick, tick) → </a:t>
            </a:r>
            <a:r>
              <a:rPr lang="ko-KR" altLang="en-US" sz="11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위치는 매 틱 전송하지 않음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70272E5-894E-4D5B-C562-FD1B8367CA1F}"/>
              </a:ext>
            </a:extLst>
          </p:cNvPr>
          <p:cNvSpPr/>
          <p:nvPr/>
        </p:nvSpPr>
        <p:spPr>
          <a:xfrm>
            <a:off x="457200" y="38404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5B2AD6-E7AC-053F-B79D-275A609C0075}"/>
              </a:ext>
            </a:extLst>
          </p:cNvPr>
          <p:cNvSpPr txBox="1"/>
          <p:nvPr/>
        </p:nvSpPr>
        <p:spPr>
          <a:xfrm>
            <a:off x="731520" y="3977640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② 탄착 순간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Host</a:t>
            </a:r>
            <a:r>
              <a:rPr lang="ko-KR" altLang="en-US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만 판정 → 결과 전파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2CED7A0-71EE-3C4E-5C55-C18152465D9F}"/>
              </a:ext>
            </a:extLst>
          </p:cNvPr>
          <p:cNvSpPr/>
          <p:nvPr/>
        </p:nvSpPr>
        <p:spPr>
          <a:xfrm>
            <a:off x="731520" y="4434840"/>
            <a:ext cx="137160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ko-KR" altLang="en-US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매 틱 </a:t>
            </a:r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(Host)</a:t>
            </a:r>
          </a:p>
          <a:p>
            <a:pPr algn="ctr"/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FixedUpdateNetwork</a:t>
            </a:r>
            <a:endParaRPr lang="ko-KR" altLang="en-US" sz="10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51D6D83-C46C-B506-8D0A-20FF5AB7C839}"/>
              </a:ext>
            </a:extLst>
          </p:cNvPr>
          <p:cNvSpPr/>
          <p:nvPr/>
        </p:nvSpPr>
        <p:spPr>
          <a:xfrm>
            <a:off x="2331720" y="4434840"/>
            <a:ext cx="1920240" cy="621792"/>
          </a:xfrm>
          <a:prstGeom prst="roundRect">
            <a:avLst>
              <a:gd name="adj" fmla="val 18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LagCompensation.Raycast</a:t>
            </a:r>
          </a:p>
          <a:p>
            <a:pPr algn="ctr"/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Tick−1 → Tick </a:t>
            </a:r>
            <a:r>
              <a:rPr lang="ko-KR" altLang="en-US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구간 검사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993E6D2-DB71-C7F5-E2D8-6310726DAE40}"/>
              </a:ext>
            </a:extLst>
          </p:cNvPr>
          <p:cNvSpPr/>
          <p:nvPr/>
        </p:nvSpPr>
        <p:spPr>
          <a:xfrm>
            <a:off x="4480560" y="4434840"/>
            <a:ext cx="118872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OnHit()</a:t>
            </a:r>
          </a:p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충돌 지점 확정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C052C2A-549A-6EB1-90E0-F4B770FFB61B}"/>
              </a:ext>
            </a:extLst>
          </p:cNvPr>
          <p:cNvCxnSpPr/>
          <p:nvPr/>
        </p:nvCxnSpPr>
        <p:spPr>
          <a:xfrm>
            <a:off x="2103120" y="4745736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446356F-6633-117E-FA65-BDAB7FB5F989}"/>
              </a:ext>
            </a:extLst>
          </p:cNvPr>
          <p:cNvCxnSpPr/>
          <p:nvPr/>
        </p:nvCxnSpPr>
        <p:spPr>
          <a:xfrm>
            <a:off x="4251960" y="4745736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94EA41A-1EE5-43D1-CD17-B21401770D2D}"/>
              </a:ext>
            </a:extLst>
          </p:cNvPr>
          <p:cNvSpPr/>
          <p:nvPr/>
        </p:nvSpPr>
        <p:spPr>
          <a:xfrm>
            <a:off x="731520" y="5239512"/>
            <a:ext cx="137160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Finish()</a:t>
            </a:r>
          </a:p>
          <a:p>
            <a:pPr algn="ctr"/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IsFinished = true</a:t>
            </a:r>
            <a:endParaRPr lang="ko-KR" altLang="en-US" sz="10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84AFBE4-351E-381A-D1C8-562187C0E5AD}"/>
              </a:ext>
            </a:extLst>
          </p:cNvPr>
          <p:cNvSpPr/>
          <p:nvPr/>
        </p:nvSpPr>
        <p:spPr>
          <a:xfrm>
            <a:off x="2331720" y="5239512"/>
            <a:ext cx="1920240" cy="621792"/>
          </a:xfrm>
          <a:prstGeom prst="roundRect">
            <a:avLst>
              <a:gd name="adj" fmla="val 18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RPC_OnHit()</a:t>
            </a:r>
          </a:p>
          <a:p>
            <a:pPr algn="ctr"/>
            <a:r>
              <a:rPr lang="ko-KR" altLang="en-US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모든 피어 페인트 </a:t>
            </a:r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FX</a:t>
            </a:r>
            <a:endParaRPr lang="ko-KR" altLang="en-US" sz="1000">
              <a:solidFill>
                <a:srgbClr val="FFFF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718DBA9-B3F2-2579-C594-6B209F65D7FC}"/>
              </a:ext>
            </a:extLst>
          </p:cNvPr>
          <p:cNvSpPr/>
          <p:nvPr/>
        </p:nvSpPr>
        <p:spPr>
          <a:xfrm>
            <a:off x="4480560" y="5239512"/>
            <a:ext cx="118872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TickTimer 0.3s</a:t>
            </a:r>
          </a:p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만료 후 </a:t>
            </a:r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Despawn</a:t>
            </a:r>
            <a:endParaRPr lang="ko-KR" altLang="en-US" sz="10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06CD8E8-3D73-CAF5-A83B-C7E1D3DE7C4E}"/>
              </a:ext>
            </a:extLst>
          </p:cNvPr>
          <p:cNvCxnSpPr/>
          <p:nvPr/>
        </p:nvCxnSpPr>
        <p:spPr>
          <a:xfrm>
            <a:off x="2103120" y="5550408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B72DD47-2D63-7246-8C34-CF9357A30751}"/>
              </a:ext>
            </a:extLst>
          </p:cNvPr>
          <p:cNvCxnSpPr/>
          <p:nvPr/>
        </p:nvCxnSpPr>
        <p:spPr>
          <a:xfrm>
            <a:off x="4251960" y="5550408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BBC4649-C03F-912A-8B7A-3430ADF41E05}"/>
              </a:ext>
            </a:extLst>
          </p:cNvPr>
          <p:cNvSpPr/>
          <p:nvPr/>
        </p:nvSpPr>
        <p:spPr>
          <a:xfrm>
            <a:off x="731520" y="5971032"/>
            <a:ext cx="4937760" cy="329184"/>
          </a:xfrm>
          <a:prstGeom prst="roundRect">
            <a:avLst>
              <a:gd name="adj" fmla="val 5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✓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Client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Render()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보간 이동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IsFinished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면 즉시 숨김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3D23097-B80C-E70F-EBCE-53BADDAF5021}"/>
              </a:ext>
            </a:extLst>
          </p:cNvPr>
          <p:cNvSpPr/>
          <p:nvPr/>
        </p:nvSpPr>
        <p:spPr>
          <a:xfrm>
            <a:off x="6400800" y="1371600"/>
            <a:ext cx="384048" cy="384048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2DEF9B-E148-BE13-DF54-1DEECA44C4BF}"/>
              </a:ext>
            </a:extLst>
          </p:cNvPr>
          <p:cNvSpPr txBox="1"/>
          <p:nvPr/>
        </p:nvSpPr>
        <p:spPr>
          <a:xfrm>
            <a:off x="6949440" y="138988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발사 순간만 동기화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BB87FE-8D49-85B5-4941-1F66B9195CC8}"/>
              </a:ext>
            </a:extLst>
          </p:cNvPr>
          <p:cNvSpPr txBox="1"/>
          <p:nvPr/>
        </p:nvSpPr>
        <p:spPr>
          <a:xfrm>
            <a:off x="6949440" y="182880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Initialize()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Position · Velocity · FireTick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[Networked]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구조체에 한 번만 기록한다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b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이후 위치는 네트워크로 보내지 않는다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F1A2E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526632D1-8661-C240-C36A-FAFB11424DBB}"/>
              </a:ext>
            </a:extLst>
          </p:cNvPr>
          <p:cNvSpPr/>
          <p:nvPr/>
        </p:nvSpPr>
        <p:spPr>
          <a:xfrm>
            <a:off x="6400800" y="2834640"/>
            <a:ext cx="384048" cy="384048"/>
          </a:xfrm>
          <a:prstGeom prst="ellipse">
            <a:avLst/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E951FC-876D-EF35-4062-CA7EA1D259C0}"/>
              </a:ext>
            </a:extLst>
          </p:cNvPr>
          <p:cNvSpPr txBox="1"/>
          <p:nvPr/>
        </p:nvSpPr>
        <p:spPr>
          <a:xfrm>
            <a:off x="6949440" y="285292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궤적은 </a:t>
            </a:r>
            <a:r>
              <a:rPr lang="en-US" altLang="ko-KR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Tick</a:t>
            </a:r>
            <a:r>
              <a:rPr lang="ko-KR" altLang="en-US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계산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3E68A3-DA27-71A3-94F9-5F455409D95E}"/>
              </a:ext>
            </a:extLst>
          </p:cNvPr>
          <p:cNvSpPr txBox="1"/>
          <p:nvPr/>
        </p:nvSpPr>
        <p:spPr>
          <a:xfrm>
            <a:off x="6949440" y="329184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경과 시간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 = (Tick − FireTick) × DeltaTime.</a:t>
            </a:r>
            <a:b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직선 구간 뒤 중력 포물선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입력이 같으니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모든 피어가 같은 위치를 얻는다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F1A2E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9FE76F90-FB64-A494-4F7B-75A82B6BD8B8}"/>
              </a:ext>
            </a:extLst>
          </p:cNvPr>
          <p:cNvSpPr/>
          <p:nvPr/>
        </p:nvSpPr>
        <p:spPr>
          <a:xfrm>
            <a:off x="6400800" y="4297680"/>
            <a:ext cx="384048" cy="384048"/>
          </a:xfrm>
          <a:prstGeom prst="ellipse">
            <a:avLst/>
          </a:prstGeom>
          <a:solidFill>
            <a:srgbClr val="F26B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A7FAF4-8DB8-3662-4C5E-58DE4C7DD1EB}"/>
              </a:ext>
            </a:extLst>
          </p:cNvPr>
          <p:cNvSpPr txBox="1"/>
          <p:nvPr/>
        </p:nvSpPr>
        <p:spPr>
          <a:xfrm>
            <a:off x="6949440" y="431596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탄착 순간은 </a:t>
            </a:r>
            <a:r>
              <a:rPr lang="en-US" altLang="ko-KR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Host</a:t>
            </a:r>
            <a:r>
              <a:rPr lang="ko-KR" altLang="en-US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확정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2BC759-16F1-93D7-30B9-C22A15EEFA42}"/>
              </a:ext>
            </a:extLst>
          </p:cNvPr>
          <p:cNvSpPr txBox="1"/>
          <p:nvPr/>
        </p:nvSpPr>
        <p:spPr>
          <a:xfrm>
            <a:off x="6949440" y="475488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Tick−1 → Tick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구간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Raycast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빠른 탄도 관통 방지</a:t>
            </a:r>
          </a:p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LagCompensation →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쏜 사람 화면 기준으로 판정</a:t>
            </a:r>
          </a:p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RPC_OnHit →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모든 피어가 같은 지점에 페인트</a:t>
            </a:r>
          </a:p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Despawn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0.3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 뒤 →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RPC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보다 먼저 사라지지 않음</a:t>
            </a:r>
          </a:p>
        </p:txBody>
      </p:sp>
    </p:spTree>
    <p:extLst>
      <p:ext uri="{BB962C8B-B14F-4D97-AF65-F5344CB8AC3E}">
        <p14:creationId xmlns:p14="http://schemas.microsoft.com/office/powerpoint/2010/main" val="2298947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Office PowerPoint</Application>
  <PresentationFormat>사용자 지정</PresentationFormat>
  <Paragraphs>40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Malgun Gothic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MJ</dc:creator>
  <cp:lastModifiedBy>MJ</cp:lastModifiedBy>
  <cp:revision>1</cp:revision>
  <dcterms:created xsi:type="dcterms:W3CDTF">2026-10-04T12:19:24Z</dcterms:created>
  <dcterms:modified xsi:type="dcterms:W3CDTF">2026-10-04T12:19:24Z</dcterms:modified>
</cp:coreProperties>
</file>